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IBM Plex Sans"/>
      <p:bold r:id="rId13"/>
      <p:boldItalic r:id="rId14"/>
    </p:embeddedFont>
    <p:embeddedFont>
      <p:font typeface="IBM Plex Mono Medium"/>
      <p:regular r:id="rId15"/>
      <p:bold r:id="rId16"/>
      <p:italic r:id="rId17"/>
      <p:boldItalic r:id="rId18"/>
    </p:embeddedFont>
    <p:embeddedFont>
      <p:font typeface="IBM Plex Mono SemiBold"/>
      <p:regular r:id="rId19"/>
      <p:bold r:id="rId20"/>
      <p:italic r:id="rId21"/>
      <p:boldItalic r:id="rId22"/>
    </p:embeddedFont>
    <p:embeddedFont>
      <p:font typeface="IBM Plex Mono"/>
      <p:regular r:id="rId23"/>
      <p:bold r:id="rId24"/>
      <p:italic r:id="rId25"/>
      <p:boldItalic r:id="rId26"/>
    </p:embeddedFont>
    <p:embeddedFont>
      <p:font typeface="IBM Plex Sans SemiBold"/>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BMPlexMonoSemiBold-bold.fntdata"/><Relationship Id="rId22" Type="http://schemas.openxmlformats.org/officeDocument/2006/relationships/font" Target="fonts/IBMPlexMonoSemiBold-boldItalic.fntdata"/><Relationship Id="rId21" Type="http://schemas.openxmlformats.org/officeDocument/2006/relationships/font" Target="fonts/IBMPlexMonoSemiBold-italic.fntdata"/><Relationship Id="rId24" Type="http://schemas.openxmlformats.org/officeDocument/2006/relationships/font" Target="fonts/IBMPlexMono-bold.fntdata"/><Relationship Id="rId23" Type="http://schemas.openxmlformats.org/officeDocument/2006/relationships/font" Target="fonts/IBMPlexMon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BMPlexMono-boldItalic.fntdata"/><Relationship Id="rId25" Type="http://schemas.openxmlformats.org/officeDocument/2006/relationships/font" Target="fonts/IBMPlexMono-italic.fntdata"/><Relationship Id="rId28" Type="http://schemas.openxmlformats.org/officeDocument/2006/relationships/font" Target="fonts/IBMPlexSansSemiBold-bold.fntdata"/><Relationship Id="rId27" Type="http://schemas.openxmlformats.org/officeDocument/2006/relationships/font" Target="fonts/IBMPlexSansSemiBold-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IBMPlexSansSemiBold-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IBMPlexSansSemiBold-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IBMPlexSans-bold.fntdata"/><Relationship Id="rId12" Type="http://schemas.openxmlformats.org/officeDocument/2006/relationships/slide" Target="slides/slide7.xml"/><Relationship Id="rId15" Type="http://schemas.openxmlformats.org/officeDocument/2006/relationships/font" Target="fonts/IBMPlexMonoMedium-regular.fntdata"/><Relationship Id="rId14" Type="http://schemas.openxmlformats.org/officeDocument/2006/relationships/font" Target="fonts/IBMPlexSans-boldItalic.fntdata"/><Relationship Id="rId17" Type="http://schemas.openxmlformats.org/officeDocument/2006/relationships/font" Target="fonts/IBMPlexMonoMedium-italic.fntdata"/><Relationship Id="rId16" Type="http://schemas.openxmlformats.org/officeDocument/2006/relationships/font" Target="fonts/IBMPlexMonoMedium-bold.fntdata"/><Relationship Id="rId19" Type="http://schemas.openxmlformats.org/officeDocument/2006/relationships/font" Target="fonts/IBMPlexMonoSemiBold-regular.fntdata"/><Relationship Id="rId18" Type="http://schemas.openxmlformats.org/officeDocument/2006/relationships/font" Target="fonts/IBMPlexMonoMedium-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a78158ddf_19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a78158ddf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fa78158ddf_0_1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fa78158ddf_0_1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fa78158ddf_1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fa78158ddf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a78158ddf_1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a78158ddf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fa78158ddf_1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fa78158ddf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fa78158ddf_0_1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fa78158ddf_0_1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fa78158ddf_0_2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fa78158ddf_0_2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a78158ddf_13_0)">
  <p:cSld name="Generated (g3fa78158ddf_13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8"/>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10"/>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10"/>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1" name="Google Shape;41;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2"/>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8" name="Google Shape;4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3.png"/><Relationship Id="rId5"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1" Type="http://schemas.openxmlformats.org/officeDocument/2006/relationships/image" Target="../media/image20.png"/><Relationship Id="rId10" Type="http://schemas.openxmlformats.org/officeDocument/2006/relationships/image" Target="../media/image23.png"/><Relationship Id="rId12" Type="http://schemas.openxmlformats.org/officeDocument/2006/relationships/image" Target="../media/image18.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9" Type="http://schemas.openxmlformats.org/officeDocument/2006/relationships/image" Target="../media/image11.png"/><Relationship Id="rId5" Type="http://schemas.openxmlformats.org/officeDocument/2006/relationships/image" Target="../media/image28.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24.png"/></Relationships>
</file>

<file path=ppt/slides/_rels/slide4.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21.png"/><Relationship Id="rId13" Type="http://schemas.openxmlformats.org/officeDocument/2006/relationships/image" Target="../media/image14.png"/><Relationship Id="rId12"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 Id="rId9" Type="http://schemas.openxmlformats.org/officeDocument/2006/relationships/image" Target="../media/image5.png"/><Relationship Id="rId14" Type="http://schemas.openxmlformats.org/officeDocument/2006/relationships/image" Target="../media/image34.png"/><Relationship Id="rId5" Type="http://schemas.openxmlformats.org/officeDocument/2006/relationships/image" Target="../media/image25.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0" Type="http://schemas.openxmlformats.org/officeDocument/2006/relationships/image" Target="../media/image35.pn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2.png"/><Relationship Id="rId9" Type="http://schemas.openxmlformats.org/officeDocument/2006/relationships/image" Target="../media/image27.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33.png"/><Relationship Id="rId8" Type="http://schemas.openxmlformats.org/officeDocument/2006/relationships/image" Target="../media/image3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9.png"/><Relationship Id="rId4" Type="http://schemas.openxmlformats.org/officeDocument/2006/relationships/image" Target="../media/image26.png"/><Relationship Id="rId5" Type="http://schemas.openxmlformats.org/officeDocument/2006/relationships/image" Target="../media/image3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grpSp>
        <p:nvGrpSpPr>
          <p:cNvPr id="55" name="Google Shape;55;p14"/>
          <p:cNvGrpSpPr/>
          <p:nvPr/>
        </p:nvGrpSpPr>
        <p:grpSpPr>
          <a:xfrm>
            <a:off x="0" y="0"/>
            <a:ext cx="9144000" cy="5143500"/>
            <a:chOff x="0" y="0"/>
            <a:chExt cx="9144000" cy="5143500"/>
          </a:xfrm>
        </p:grpSpPr>
        <p:sp>
          <p:nvSpPr>
            <p:cNvPr id="56" name="Google Shape;56;p14"/>
            <p:cNvSpPr/>
            <p:nvPr/>
          </p:nvSpPr>
          <p:spPr>
            <a:xfrm>
              <a:off x="0" y="0"/>
              <a:ext cx="9144000" cy="5143500"/>
            </a:xfrm>
            <a:prstGeom prst="rect">
              <a:avLst/>
            </a:prstGeom>
            <a:solidFill>
              <a:srgbClr val="090D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 name="Google Shape;57;p14"/>
            <p:cNvSpPr/>
            <p:nvPr/>
          </p:nvSpPr>
          <p:spPr>
            <a:xfrm>
              <a:off x="0" y="0"/>
              <a:ext cx="9144000" cy="5143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8" name="Google Shape;58;p14"/>
            <p:cNvGrpSpPr/>
            <p:nvPr/>
          </p:nvGrpSpPr>
          <p:grpSpPr>
            <a:xfrm>
              <a:off x="190500" y="190500"/>
              <a:ext cx="8763000" cy="190500"/>
              <a:chOff x="190500" y="190500"/>
              <a:chExt cx="8763000" cy="190500"/>
            </a:xfrm>
          </p:grpSpPr>
          <p:sp>
            <p:nvSpPr>
              <p:cNvPr id="59" name="Google Shape;59;p14"/>
              <p:cNvSpPr/>
              <p:nvPr/>
            </p:nvSpPr>
            <p:spPr>
              <a:xfrm>
                <a:off x="190500" y="190500"/>
                <a:ext cx="190500" cy="190500"/>
              </a:xfrm>
              <a:custGeom>
                <a:rect b="b" l="l" r="r" t="t"/>
                <a:pathLst>
                  <a:path extrusionOk="0" h="120000" w="120000">
                    <a:moveTo>
                      <a:pt x="0" y="120000"/>
                    </a:moveTo>
                    <a:lnTo>
                      <a:pt x="0" y="0"/>
                    </a:lnTo>
                    <a:lnTo>
                      <a:pt x="120000" y="0"/>
                    </a:lnTo>
                  </a:path>
                </a:pathLst>
              </a:cu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 name="Google Shape;60;p14"/>
              <p:cNvSpPr/>
              <p:nvPr/>
            </p:nvSpPr>
            <p:spPr>
              <a:xfrm>
                <a:off x="8763000" y="190500"/>
                <a:ext cx="190500" cy="190500"/>
              </a:xfrm>
              <a:custGeom>
                <a:rect b="b" l="l" r="r" t="t"/>
                <a:pathLst>
                  <a:path extrusionOk="0" h="120000" w="120000">
                    <a:moveTo>
                      <a:pt x="120000" y="120000"/>
                    </a:moveTo>
                    <a:lnTo>
                      <a:pt x="120000" y="0"/>
                    </a:lnTo>
                    <a:lnTo>
                      <a:pt x="0" y="0"/>
                    </a:lnTo>
                  </a:path>
                </a:pathLst>
              </a:cu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61" name="Google Shape;61;p14"/>
            <p:cNvGrpSpPr/>
            <p:nvPr/>
          </p:nvGrpSpPr>
          <p:grpSpPr>
            <a:xfrm>
              <a:off x="381000" y="381000"/>
              <a:ext cx="2000250" cy="142800"/>
              <a:chOff x="0" y="0"/>
              <a:chExt cx="2000250" cy="142800"/>
            </a:xfrm>
          </p:grpSpPr>
          <p:sp>
            <p:nvSpPr>
              <p:cNvPr id="62" name="Google Shape;62;p14"/>
              <p:cNvSpPr/>
              <p:nvPr/>
            </p:nvSpPr>
            <p:spPr>
              <a:xfrm>
                <a:off x="0" y="0"/>
                <a:ext cx="28500" cy="1143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3" name="Google Shape;63;p14"/>
              <p:cNvSpPr txBox="1"/>
              <p:nvPr/>
            </p:nvSpPr>
            <p:spPr>
              <a:xfrm>
                <a:off x="95250" y="0"/>
                <a:ext cx="1905000" cy="14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694">
                    <a:solidFill>
                      <a:srgbClr val="475569"/>
                    </a:solidFill>
                    <a:latin typeface="IBM Plex Mono"/>
                    <a:ea typeface="IBM Plex Mono"/>
                    <a:cs typeface="IBM Plex Mono"/>
                    <a:sym typeface="IBM Plex Mono"/>
                  </a:rPr>
                  <a:t>SYS.OP // NODE-LINK ACTIVE // TRK-99</a:t>
                </a:r>
                <a:endParaRPr b="0" sz="694">
                  <a:solidFill>
                    <a:srgbClr val="475569"/>
                  </a:solidFill>
                  <a:latin typeface="IBM Plex Mono"/>
                  <a:ea typeface="IBM Plex Mono"/>
                  <a:cs typeface="IBM Plex Mono"/>
                  <a:sym typeface="IBM Plex Mono"/>
                </a:endParaRPr>
              </a:p>
            </p:txBody>
          </p:sp>
        </p:grpSp>
        <p:pic>
          <p:nvPicPr>
            <p:cNvPr id="64" name="Google Shape;64;p14"/>
            <p:cNvPicPr preferRelativeResize="0"/>
            <p:nvPr/>
          </p:nvPicPr>
          <p:blipFill rotWithShape="1">
            <a:blip r:embed="rId3">
              <a:alphaModFix/>
            </a:blip>
            <a:srcRect b="0" l="0" r="0" t="0"/>
            <a:stretch/>
          </p:blipFill>
          <p:spPr>
            <a:xfrm>
              <a:off x="2662238" y="661988"/>
              <a:ext cx="3819600" cy="3819600"/>
            </a:xfrm>
            <a:prstGeom prst="rect">
              <a:avLst/>
            </a:prstGeom>
            <a:noFill/>
            <a:ln>
              <a:noFill/>
            </a:ln>
          </p:spPr>
        </p:pic>
        <p:pic>
          <p:nvPicPr>
            <p:cNvPr id="65" name="Google Shape;65;p14"/>
            <p:cNvPicPr preferRelativeResize="0"/>
            <p:nvPr/>
          </p:nvPicPr>
          <p:blipFill rotWithShape="1">
            <a:blip r:embed="rId4">
              <a:alphaModFix/>
            </a:blip>
            <a:srcRect b="0" l="0" r="0" t="0"/>
            <a:stretch/>
          </p:blipFill>
          <p:spPr>
            <a:xfrm>
              <a:off x="4567238" y="476250"/>
              <a:ext cx="9600" cy="4191000"/>
            </a:xfrm>
            <a:prstGeom prst="rect">
              <a:avLst/>
            </a:prstGeom>
            <a:noFill/>
            <a:ln>
              <a:noFill/>
            </a:ln>
          </p:spPr>
        </p:pic>
        <p:pic>
          <p:nvPicPr>
            <p:cNvPr id="66" name="Google Shape;66;p14"/>
            <p:cNvPicPr preferRelativeResize="0"/>
            <p:nvPr/>
          </p:nvPicPr>
          <p:blipFill rotWithShape="1">
            <a:blip r:embed="rId5">
              <a:alphaModFix/>
            </a:blip>
            <a:srcRect b="0" l="0" r="0" t="0"/>
            <a:stretch/>
          </p:blipFill>
          <p:spPr>
            <a:xfrm>
              <a:off x="2476500" y="2566988"/>
              <a:ext cx="4191000" cy="9600"/>
            </a:xfrm>
            <a:prstGeom prst="rect">
              <a:avLst/>
            </a:prstGeom>
            <a:noFill/>
            <a:ln>
              <a:noFill/>
            </a:ln>
          </p:spPr>
        </p:pic>
      </p:grpSp>
      <p:sp>
        <p:nvSpPr>
          <p:cNvPr id="67" name="Google Shape;67;p14"/>
          <p:cNvSpPr txBox="1"/>
          <p:nvPr/>
        </p:nvSpPr>
        <p:spPr>
          <a:xfrm>
            <a:off x="762000" y="1524000"/>
            <a:ext cx="7620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400">
                <a:solidFill>
                  <a:srgbClr val="E2E8F0"/>
                </a:solidFill>
                <a:latin typeface="IBM Plex Sans"/>
                <a:ea typeface="IBM Plex Sans"/>
                <a:cs typeface="IBM Plex Sans"/>
                <a:sym typeface="IBM Plex Sans"/>
              </a:rPr>
              <a:t>PROJECT TURNCOAT</a:t>
            </a:r>
            <a:endParaRPr b="1" sz="2400">
              <a:solidFill>
                <a:srgbClr val="E2E8F0"/>
              </a:solidFill>
              <a:latin typeface="IBM Plex Sans"/>
              <a:ea typeface="IBM Plex Sans"/>
              <a:cs typeface="IBM Plex Sans"/>
              <a:sym typeface="IBM Plex Sans"/>
            </a:endParaRPr>
          </a:p>
          <a:p>
            <a:pPr indent="0" lvl="0" marL="0" rtl="0" algn="l">
              <a:spcBef>
                <a:spcPts val="900"/>
              </a:spcBef>
              <a:spcAft>
                <a:spcPts val="0"/>
              </a:spcAft>
              <a:buNone/>
            </a:pPr>
            <a:r>
              <a:rPr b="0" lang="en" sz="1200">
                <a:solidFill>
                  <a:srgbClr val="00E5FF"/>
                </a:solidFill>
                <a:latin typeface="IBM Plex Mono Medium"/>
                <a:ea typeface="IBM Plex Mono Medium"/>
                <a:cs typeface="IBM Plex Mono Medium"/>
                <a:sym typeface="IBM Plex Mono Medium"/>
              </a:rPr>
              <a:t>MAPPING THE ADVERSARY'S HYPERSONIC INDUSTRIAL BASE</a:t>
            </a:r>
            <a:endParaRPr b="0" sz="1200">
              <a:solidFill>
                <a:srgbClr val="00E5FF"/>
              </a:solidFill>
              <a:latin typeface="IBM Plex Mono Medium"/>
              <a:ea typeface="IBM Plex Mono Medium"/>
              <a:cs typeface="IBM Plex Mono Medium"/>
              <a:sym typeface="IBM Plex Mono Medium"/>
            </a:endParaRPr>
          </a:p>
        </p:txBody>
      </p:sp>
      <p:grpSp>
        <p:nvGrpSpPr>
          <p:cNvPr id="68" name="Google Shape;68;p14"/>
          <p:cNvGrpSpPr/>
          <p:nvPr/>
        </p:nvGrpSpPr>
        <p:grpSpPr>
          <a:xfrm>
            <a:off x="762000" y="2667000"/>
            <a:ext cx="7620000" cy="1905000"/>
            <a:chOff x="762000" y="2667000"/>
            <a:chExt cx="7620000" cy="1905000"/>
          </a:xfrm>
        </p:grpSpPr>
        <p:sp>
          <p:nvSpPr>
            <p:cNvPr id="69" name="Google Shape;69;p14"/>
            <p:cNvSpPr/>
            <p:nvPr/>
          </p:nvSpPr>
          <p:spPr>
            <a:xfrm>
              <a:off x="762000" y="2667000"/>
              <a:ext cx="7620000" cy="1905000"/>
            </a:xfrm>
            <a:prstGeom prst="rect">
              <a:avLst/>
            </a:prstGeom>
            <a:solidFill>
              <a:srgbClr val="000000">
                <a:alpha val="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70" name="Google Shape;70;p14"/>
            <p:cNvCxnSpPr/>
            <p:nvPr/>
          </p:nvCxnSpPr>
          <p:spPr>
            <a:xfrm>
              <a:off x="762000" y="2667000"/>
              <a:ext cx="1143000" cy="0"/>
            </a:xfrm>
            <a:prstGeom prst="straightConnector1">
              <a:avLst/>
            </a:prstGeom>
            <a:solidFill>
              <a:srgbClr val="FFFFFF"/>
            </a:solidFill>
            <a:ln cap="flat" cmpd="sng" w="19050">
              <a:solidFill>
                <a:srgbClr val="00E5FF"/>
              </a:solidFill>
              <a:prstDash val="solid"/>
              <a:round/>
              <a:headEnd len="sm" w="sm" type="none"/>
              <a:tailEnd len="sm" w="sm" type="none"/>
            </a:ln>
          </p:spPr>
        </p:cxnSp>
        <p:sp>
          <p:nvSpPr>
            <p:cNvPr id="71" name="Google Shape;71;p14"/>
            <p:cNvSpPr txBox="1"/>
            <p:nvPr/>
          </p:nvSpPr>
          <p:spPr>
            <a:xfrm>
              <a:off x="952500" y="2857500"/>
              <a:ext cx="3238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00E5FF"/>
                  </a:solidFill>
                  <a:latin typeface="IBM Plex Mono"/>
                  <a:ea typeface="IBM Plex Mono"/>
                  <a:cs typeface="IBM Plex Mono"/>
                  <a:sym typeface="IBM Plex Mono"/>
                </a:rPr>
                <a:t>SYSTEM OBJECTIVE // CODE: TURNCOAT</a:t>
              </a:r>
              <a:endParaRPr b="0" sz="750">
                <a:solidFill>
                  <a:srgbClr val="00E5FF"/>
                </a:solidFill>
                <a:latin typeface="IBM Plex Mono"/>
                <a:ea typeface="IBM Plex Mono"/>
                <a:cs typeface="IBM Plex Mono"/>
                <a:sym typeface="IBM Plex Mono"/>
              </a:endParaRPr>
            </a:p>
          </p:txBody>
        </p:sp>
        <p:sp>
          <p:nvSpPr>
            <p:cNvPr id="72" name="Google Shape;72;p14"/>
            <p:cNvSpPr txBox="1"/>
            <p:nvPr/>
          </p:nvSpPr>
          <p:spPr>
            <a:xfrm>
              <a:off x="952500" y="3095625"/>
              <a:ext cx="3238500" cy="12858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50">
                  <a:solidFill>
                    <a:srgbClr val="E2E8F0"/>
                  </a:solidFill>
                  <a:latin typeface="IBM Plex Mono Medium"/>
                  <a:ea typeface="IBM Plex Mono Medium"/>
                  <a:cs typeface="IBM Plex Mono Medium"/>
                  <a:sym typeface="IBM Plex Mono Medium"/>
                </a:rPr>
                <a:t>THE PROBLEM &amp; CHALLENGE</a:t>
              </a:r>
              <a:endParaRPr b="0" sz="1050">
                <a:solidFill>
                  <a:srgbClr val="E2E8F0"/>
                </a:solidFill>
                <a:latin typeface="IBM Plex Mono Medium"/>
                <a:ea typeface="IBM Plex Mono Medium"/>
                <a:cs typeface="IBM Plex Mono Medium"/>
                <a:sym typeface="IBM Plex Mono Medium"/>
              </a:endParaRPr>
            </a:p>
            <a:p>
              <a:pPr indent="0" lvl="0" marL="0" rtl="0" algn="l">
                <a:spcBef>
                  <a:spcPts val="750"/>
                </a:spcBef>
                <a:spcAft>
                  <a:spcPts val="750"/>
                </a:spcAft>
                <a:buNone/>
              </a:pPr>
              <a:r>
                <a:rPr b="0" lang="en" sz="950">
                  <a:solidFill>
                    <a:srgbClr val="94A3B8"/>
                  </a:solidFill>
                  <a:latin typeface="IBM Plex Sans"/>
                  <a:ea typeface="IBM Plex Sans"/>
                  <a:cs typeface="IBM Plex Sans"/>
                  <a:sym typeface="IBM Plex Sans"/>
                </a:rPr>
                <a:t>Adversary hypersonic supply chains are heavily obfuscated across fragmented sources. We must deploy NLP pipelines to ingest arXiv scientific research, Google Patents data, and international trade records to map and expose critical structural vulnerabilities.</a:t>
              </a:r>
              <a:endParaRPr b="0" sz="950">
                <a:solidFill>
                  <a:srgbClr val="94A3B8"/>
                </a:solidFill>
                <a:latin typeface="IBM Plex Sans"/>
                <a:ea typeface="IBM Plex Sans"/>
                <a:cs typeface="IBM Plex Sans"/>
                <a:sym typeface="IBM Plex Sans"/>
              </a:endParaRPr>
            </a:p>
          </p:txBody>
        </p:sp>
        <p:cxnSp>
          <p:nvCxnSpPr>
            <p:cNvPr id="73" name="Google Shape;73;p14"/>
            <p:cNvCxnSpPr/>
            <p:nvPr/>
          </p:nvCxnSpPr>
          <p:spPr>
            <a:xfrm>
              <a:off x="4572000" y="2857500"/>
              <a:ext cx="0" cy="1524000"/>
            </a:xfrm>
            <a:prstGeom prst="straightConnector1">
              <a:avLst/>
            </a:prstGeom>
            <a:solidFill>
              <a:srgbClr val="FFFFFF"/>
            </a:solidFill>
            <a:ln cap="flat" cmpd="sng" w="9525">
              <a:solidFill>
                <a:srgbClr val="1E293B"/>
              </a:solidFill>
              <a:prstDash val="solid"/>
              <a:round/>
              <a:headEnd len="sm" w="sm" type="none"/>
              <a:tailEnd len="sm" w="sm" type="none"/>
            </a:ln>
          </p:spPr>
        </p:cxnSp>
        <p:grpSp>
          <p:nvGrpSpPr>
            <p:cNvPr id="74" name="Google Shape;74;p14"/>
            <p:cNvGrpSpPr/>
            <p:nvPr/>
          </p:nvGrpSpPr>
          <p:grpSpPr>
            <a:xfrm>
              <a:off x="4962525" y="3067050"/>
              <a:ext cx="95400" cy="95400"/>
              <a:chOff x="9525" y="9525"/>
              <a:chExt cx="95400" cy="95400"/>
            </a:xfrm>
          </p:grpSpPr>
          <p:sp>
            <p:nvSpPr>
              <p:cNvPr id="75" name="Google Shape;75;p14"/>
              <p:cNvSpPr/>
              <p:nvPr/>
            </p:nvSpPr>
            <p:spPr>
              <a:xfrm>
                <a:off x="9525" y="9525"/>
                <a:ext cx="95400" cy="95400"/>
              </a:xfrm>
              <a:prstGeom prst="ellipse">
                <a:avLst/>
              </a:prstGeom>
              <a:solidFill>
                <a:srgbClr val="000000">
                  <a:alpha val="0"/>
                </a:srgbClr>
              </a:solidFill>
              <a:ln cap="flat" cmpd="sng" w="1430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14"/>
              <p:cNvSpPr/>
              <p:nvPr/>
            </p:nvSpPr>
            <p:spPr>
              <a:xfrm>
                <a:off x="38100" y="38100"/>
                <a:ext cx="38100" cy="381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7" name="Google Shape;77;p14"/>
            <p:cNvSpPr txBox="1"/>
            <p:nvPr/>
          </p:nvSpPr>
          <p:spPr>
            <a:xfrm>
              <a:off x="5143500" y="2952750"/>
              <a:ext cx="3048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E2E8F0"/>
                  </a:solidFill>
                  <a:latin typeface="IBM Plex Sans SemiBold"/>
                  <a:ea typeface="IBM Plex Sans SemiBold"/>
                  <a:cs typeface="IBM Plex Sans SemiBold"/>
                  <a:sym typeface="IBM Plex Sans SemiBold"/>
                </a:rPr>
                <a:t>ACADEMIC OSINT &amp; ARXIV API</a:t>
              </a:r>
              <a:endParaRPr b="0" sz="975">
                <a:solidFill>
                  <a:srgbClr val="E2E8F0"/>
                </a:solidFill>
                <a:latin typeface="IBM Plex Sans SemiBold"/>
                <a:ea typeface="IBM Plex Sans SemiBold"/>
                <a:cs typeface="IBM Plex Sans SemiBold"/>
                <a:sym typeface="IBM Plex Sans SemiBold"/>
              </a:endParaRPr>
            </a:p>
            <a:p>
              <a:pPr indent="0" lvl="0" marL="0" rtl="0" algn="l">
                <a:spcBef>
                  <a:spcPts val="150"/>
                </a:spcBef>
                <a:spcAft>
                  <a:spcPts val="150"/>
                </a:spcAft>
                <a:buNone/>
              </a:pPr>
              <a:r>
                <a:rPr b="0" lang="en" sz="675">
                  <a:solidFill>
                    <a:srgbClr val="00E5FF"/>
                  </a:solidFill>
                  <a:latin typeface="IBM Plex Mono"/>
                  <a:ea typeface="IBM Plex Mono"/>
                  <a:cs typeface="IBM Plex Mono"/>
                  <a:sym typeface="IBM Plex Mono"/>
                </a:rPr>
                <a:t>NLP PARSING OF FOREIGN PHYSICS &amp; AEROSPACE PAPERS</a:t>
              </a:r>
              <a:endParaRPr b="0" sz="675">
                <a:solidFill>
                  <a:srgbClr val="00E5FF"/>
                </a:solidFill>
                <a:latin typeface="IBM Plex Mono"/>
                <a:ea typeface="IBM Plex Mono"/>
                <a:cs typeface="IBM Plex Mono"/>
                <a:sym typeface="IBM Plex Mono"/>
              </a:endParaRPr>
            </a:p>
          </p:txBody>
        </p:sp>
        <p:grpSp>
          <p:nvGrpSpPr>
            <p:cNvPr id="78" name="Google Shape;78;p14"/>
            <p:cNvGrpSpPr/>
            <p:nvPr/>
          </p:nvGrpSpPr>
          <p:grpSpPr>
            <a:xfrm>
              <a:off x="4962525" y="3543300"/>
              <a:ext cx="95400" cy="95400"/>
              <a:chOff x="9525" y="9525"/>
              <a:chExt cx="95400" cy="95400"/>
            </a:xfrm>
          </p:grpSpPr>
          <p:sp>
            <p:nvSpPr>
              <p:cNvPr id="79" name="Google Shape;79;p14"/>
              <p:cNvSpPr/>
              <p:nvPr/>
            </p:nvSpPr>
            <p:spPr>
              <a:xfrm>
                <a:off x="9525" y="9525"/>
                <a:ext cx="95400" cy="95400"/>
              </a:xfrm>
              <a:prstGeom prst="ellipse">
                <a:avLst/>
              </a:prstGeom>
              <a:solidFill>
                <a:srgbClr val="000000">
                  <a:alpha val="0"/>
                </a:srgbClr>
              </a:solidFill>
              <a:ln cap="flat" cmpd="sng" w="1430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14"/>
              <p:cNvSpPr/>
              <p:nvPr/>
            </p:nvSpPr>
            <p:spPr>
              <a:xfrm>
                <a:off x="38100" y="38100"/>
                <a:ext cx="38100" cy="381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1" name="Google Shape;81;p14"/>
            <p:cNvSpPr txBox="1"/>
            <p:nvPr/>
          </p:nvSpPr>
          <p:spPr>
            <a:xfrm>
              <a:off x="5143500" y="3429000"/>
              <a:ext cx="3048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E2E8F0"/>
                  </a:solidFill>
                  <a:latin typeface="IBM Plex Sans SemiBold"/>
                  <a:ea typeface="IBM Plex Sans SemiBold"/>
                  <a:cs typeface="IBM Plex Sans SemiBold"/>
                  <a:sym typeface="IBM Plex Sans SemiBold"/>
                </a:rPr>
                <a:t>PATENT DATA EXTRACTION</a:t>
              </a:r>
              <a:endParaRPr b="0" sz="975">
                <a:solidFill>
                  <a:srgbClr val="E2E8F0"/>
                </a:solidFill>
                <a:latin typeface="IBM Plex Sans SemiBold"/>
                <a:ea typeface="IBM Plex Sans SemiBold"/>
                <a:cs typeface="IBM Plex Sans SemiBold"/>
                <a:sym typeface="IBM Plex Sans SemiBold"/>
              </a:endParaRPr>
            </a:p>
            <a:p>
              <a:pPr indent="0" lvl="0" marL="0" rtl="0" algn="l">
                <a:spcBef>
                  <a:spcPts val="150"/>
                </a:spcBef>
                <a:spcAft>
                  <a:spcPts val="150"/>
                </a:spcAft>
                <a:buNone/>
              </a:pPr>
              <a:r>
                <a:rPr b="0" lang="en" sz="675">
                  <a:solidFill>
                    <a:srgbClr val="00E5FF"/>
                  </a:solidFill>
                  <a:latin typeface="IBM Plex Mono"/>
                  <a:ea typeface="IBM Plex Mono"/>
                  <a:cs typeface="IBM Plex Mono"/>
                  <a:sym typeface="IBM Plex Mono"/>
                </a:rPr>
                <a:t>RESOLVING PROPRIETARY SCRAMJET &amp; METALLURGY DESIGNS</a:t>
              </a:r>
              <a:endParaRPr b="0" sz="675">
                <a:solidFill>
                  <a:srgbClr val="00E5FF"/>
                </a:solidFill>
                <a:latin typeface="IBM Plex Mono"/>
                <a:ea typeface="IBM Plex Mono"/>
                <a:cs typeface="IBM Plex Mono"/>
                <a:sym typeface="IBM Plex Mono"/>
              </a:endParaRPr>
            </a:p>
          </p:txBody>
        </p:sp>
        <p:grpSp>
          <p:nvGrpSpPr>
            <p:cNvPr id="82" name="Google Shape;82;p14"/>
            <p:cNvGrpSpPr/>
            <p:nvPr/>
          </p:nvGrpSpPr>
          <p:grpSpPr>
            <a:xfrm>
              <a:off x="4962525" y="4019550"/>
              <a:ext cx="95400" cy="95400"/>
              <a:chOff x="9525" y="9525"/>
              <a:chExt cx="95400" cy="95400"/>
            </a:xfrm>
          </p:grpSpPr>
          <p:sp>
            <p:nvSpPr>
              <p:cNvPr id="83" name="Google Shape;83;p14"/>
              <p:cNvSpPr/>
              <p:nvPr/>
            </p:nvSpPr>
            <p:spPr>
              <a:xfrm>
                <a:off x="9525" y="9525"/>
                <a:ext cx="95400" cy="95400"/>
              </a:xfrm>
              <a:prstGeom prst="ellipse">
                <a:avLst/>
              </a:prstGeom>
              <a:solidFill>
                <a:srgbClr val="000000">
                  <a:alpha val="0"/>
                </a:srgbClr>
              </a:solidFill>
              <a:ln cap="flat" cmpd="sng" w="1430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4" name="Google Shape;84;p14"/>
              <p:cNvSpPr/>
              <p:nvPr/>
            </p:nvSpPr>
            <p:spPr>
              <a:xfrm>
                <a:off x="38100" y="38100"/>
                <a:ext cx="38100" cy="381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5" name="Google Shape;85;p14"/>
            <p:cNvSpPr txBox="1"/>
            <p:nvPr/>
          </p:nvSpPr>
          <p:spPr>
            <a:xfrm>
              <a:off x="5143500" y="3905250"/>
              <a:ext cx="3048000" cy="381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E2E8F0"/>
                  </a:solidFill>
                  <a:latin typeface="IBM Plex Sans SemiBold"/>
                  <a:ea typeface="IBM Plex Sans SemiBold"/>
                  <a:cs typeface="IBM Plex Sans SemiBold"/>
                  <a:sym typeface="IBM Plex Sans SemiBold"/>
                </a:rPr>
                <a:t>TRADE &amp; SUPPLY CHAIN MAPPING</a:t>
              </a:r>
              <a:endParaRPr b="0" sz="975">
                <a:solidFill>
                  <a:srgbClr val="E2E8F0"/>
                </a:solidFill>
                <a:latin typeface="IBM Plex Sans SemiBold"/>
                <a:ea typeface="IBM Plex Sans SemiBold"/>
                <a:cs typeface="IBM Plex Sans SemiBold"/>
                <a:sym typeface="IBM Plex Sans SemiBold"/>
              </a:endParaRPr>
            </a:p>
            <a:p>
              <a:pPr indent="0" lvl="0" marL="0" rtl="0" algn="l">
                <a:spcBef>
                  <a:spcPts val="150"/>
                </a:spcBef>
                <a:spcAft>
                  <a:spcPts val="150"/>
                </a:spcAft>
                <a:buNone/>
              </a:pPr>
              <a:r>
                <a:rPr b="0" lang="en" sz="675">
                  <a:solidFill>
                    <a:srgbClr val="00E5FF"/>
                  </a:solidFill>
                  <a:latin typeface="IBM Plex Mono"/>
                  <a:ea typeface="IBM Plex Mono"/>
                  <a:cs typeface="IBM Plex Mono"/>
                  <a:sym typeface="IBM Plex Mono"/>
                </a:rPr>
                <a:t>CORRELATING GLOBAL LOGISTICS TO PINPOINT CHOKEPOINTS</a:t>
              </a:r>
              <a:endParaRPr b="0" sz="675">
                <a:solidFill>
                  <a:srgbClr val="00E5FF"/>
                </a:solidFill>
                <a:latin typeface="IBM Plex Mono"/>
                <a:ea typeface="IBM Plex Mono"/>
                <a:cs typeface="IBM Plex Mono"/>
                <a:sym typeface="IBM Plex Mono"/>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5"/>
          <p:cNvSpPr/>
          <p:nvPr/>
        </p:nvSpPr>
        <p:spPr>
          <a:xfrm>
            <a:off x="0" y="0"/>
            <a:ext cx="9144000" cy="5143500"/>
          </a:xfrm>
          <a:prstGeom prst="rect">
            <a:avLst/>
          </a:prstGeom>
          <a:solidFill>
            <a:srgbClr val="090D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1" name="Google Shape;91;p15"/>
          <p:cNvGrpSpPr/>
          <p:nvPr/>
        </p:nvGrpSpPr>
        <p:grpSpPr>
          <a:xfrm>
            <a:off x="190500" y="190500"/>
            <a:ext cx="8763000" cy="4762500"/>
            <a:chOff x="190500" y="190500"/>
            <a:chExt cx="8763000" cy="4762500"/>
          </a:xfrm>
        </p:grpSpPr>
        <p:sp>
          <p:nvSpPr>
            <p:cNvPr id="92" name="Google Shape;92;p15"/>
            <p:cNvSpPr/>
            <p:nvPr/>
          </p:nvSpPr>
          <p:spPr>
            <a:xfrm>
              <a:off x="190500" y="190500"/>
              <a:ext cx="190500" cy="190500"/>
            </a:xfrm>
            <a:custGeom>
              <a:rect b="b" l="l" r="r" t="t"/>
              <a:pathLst>
                <a:path extrusionOk="0" h="120000" w="120000">
                  <a:moveTo>
                    <a:pt x="0" y="120000"/>
                  </a:moveTo>
                  <a:lnTo>
                    <a:pt x="0" y="0"/>
                  </a:lnTo>
                  <a:lnTo>
                    <a:pt x="120000" y="0"/>
                  </a:lnTo>
                </a:path>
              </a:pathLst>
            </a:cu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15"/>
            <p:cNvSpPr/>
            <p:nvPr/>
          </p:nvSpPr>
          <p:spPr>
            <a:xfrm>
              <a:off x="8763000" y="190500"/>
              <a:ext cx="190500" cy="190500"/>
            </a:xfrm>
            <a:custGeom>
              <a:rect b="b" l="l" r="r" t="t"/>
              <a:pathLst>
                <a:path extrusionOk="0" h="120000" w="120000">
                  <a:moveTo>
                    <a:pt x="120000" y="120000"/>
                  </a:moveTo>
                  <a:lnTo>
                    <a:pt x="120000" y="0"/>
                  </a:lnTo>
                  <a:lnTo>
                    <a:pt x="0" y="0"/>
                  </a:lnTo>
                </a:path>
              </a:pathLst>
            </a:cu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 name="Google Shape;94;p15"/>
            <p:cNvSpPr/>
            <p:nvPr/>
          </p:nvSpPr>
          <p:spPr>
            <a:xfrm>
              <a:off x="190500" y="4762500"/>
              <a:ext cx="190500" cy="190500"/>
            </a:xfrm>
            <a:custGeom>
              <a:rect b="b" l="l" r="r" t="t"/>
              <a:pathLst>
                <a:path extrusionOk="0" h="120000" w="120000">
                  <a:moveTo>
                    <a:pt x="0" y="0"/>
                  </a:moveTo>
                  <a:lnTo>
                    <a:pt x="0" y="120000"/>
                  </a:lnTo>
                  <a:lnTo>
                    <a:pt x="120000" y="120000"/>
                  </a:lnTo>
                </a:path>
              </a:pathLst>
            </a:cu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p:nvPr/>
          </p:nvSpPr>
          <p:spPr>
            <a:xfrm>
              <a:off x="8763000" y="4762500"/>
              <a:ext cx="190500" cy="190500"/>
            </a:xfrm>
            <a:custGeom>
              <a:rect b="b" l="l" r="r" t="t"/>
              <a:pathLst>
                <a:path extrusionOk="0" h="120000" w="120000">
                  <a:moveTo>
                    <a:pt x="120000" y="0"/>
                  </a:moveTo>
                  <a:lnTo>
                    <a:pt x="120000" y="120000"/>
                  </a:lnTo>
                  <a:lnTo>
                    <a:pt x="0" y="120000"/>
                  </a:lnTo>
                </a:path>
              </a:pathLst>
            </a:cu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96" name="Google Shape;96;p15"/>
          <p:cNvSpPr/>
          <p:nvPr/>
        </p:nvSpPr>
        <p:spPr>
          <a:xfrm>
            <a:off x="381000" y="4762500"/>
            <a:ext cx="8382000" cy="190500"/>
          </a:xfrm>
          <a:prstGeom prst="rect">
            <a:avLst/>
          </a:prstGeom>
          <a:solidFill>
            <a:srgbClr val="121A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5"/>
          <p:cNvSpPr txBox="1"/>
          <p:nvPr/>
        </p:nvSpPr>
        <p:spPr>
          <a:xfrm>
            <a:off x="476250" y="4781550"/>
            <a:ext cx="8191500" cy="14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675">
                <a:solidFill>
                  <a:srgbClr val="475569"/>
                </a:solidFill>
                <a:latin typeface="IBM Plex Mono"/>
                <a:ea typeface="IBM Plex Mono"/>
                <a:cs typeface="IBM Plex Mono"/>
                <a:sym typeface="IBM Plex Mono"/>
              </a:rPr>
              <a:t>STATUS: SECURE // LINK: STABLE // RENDER: PROGRESSIVE DISCOVERY MODE ACTIVE // CLASSIFICATION: TOP SECRET</a:t>
            </a:r>
            <a:endParaRPr b="0" sz="675">
              <a:solidFill>
                <a:srgbClr val="475569"/>
              </a:solidFill>
              <a:latin typeface="IBM Plex Mono"/>
              <a:ea typeface="IBM Plex Mono"/>
              <a:cs typeface="IBM Plex Mono"/>
              <a:sym typeface="IBM Plex Mono"/>
            </a:endParaRPr>
          </a:p>
        </p:txBody>
      </p:sp>
      <p:grpSp>
        <p:nvGrpSpPr>
          <p:cNvPr id="98" name="Google Shape;98;p15"/>
          <p:cNvGrpSpPr/>
          <p:nvPr/>
        </p:nvGrpSpPr>
        <p:grpSpPr>
          <a:xfrm>
            <a:off x="381000" y="219075"/>
            <a:ext cx="4857750" cy="171600"/>
            <a:chOff x="0" y="-19050"/>
            <a:chExt cx="4857750" cy="171600"/>
          </a:xfrm>
        </p:grpSpPr>
        <p:sp>
          <p:nvSpPr>
            <p:cNvPr id="99" name="Google Shape;99;p15"/>
            <p:cNvSpPr/>
            <p:nvPr/>
          </p:nvSpPr>
          <p:spPr>
            <a:xfrm>
              <a:off x="0" y="0"/>
              <a:ext cx="28500" cy="1143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txBox="1"/>
            <p:nvPr/>
          </p:nvSpPr>
          <p:spPr>
            <a:xfrm>
              <a:off x="95250" y="-19050"/>
              <a:ext cx="4762500" cy="17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675">
                  <a:solidFill>
                    <a:srgbClr val="475569"/>
                  </a:solidFill>
                  <a:latin typeface="IBM Plex Mono"/>
                  <a:ea typeface="IBM Plex Mono"/>
                  <a:cs typeface="IBM Plex Mono"/>
                  <a:sym typeface="IBM Plex Mono"/>
                </a:rPr>
                <a:t>SYS.OP // PROJECT TURNCOAT v0.1.0 // SBOM &amp; TECH OVERVIEW</a:t>
              </a:r>
              <a:endParaRPr b="0" sz="675">
                <a:solidFill>
                  <a:srgbClr val="475569"/>
                </a:solidFill>
                <a:latin typeface="IBM Plex Mono"/>
                <a:ea typeface="IBM Plex Mono"/>
                <a:cs typeface="IBM Plex Mono"/>
                <a:sym typeface="IBM Plex Mono"/>
              </a:endParaRPr>
            </a:p>
          </p:txBody>
        </p:sp>
      </p:grpSp>
      <p:sp>
        <p:nvSpPr>
          <p:cNvPr id="101" name="Google Shape;101;p15"/>
          <p:cNvSpPr txBox="1"/>
          <p:nvPr/>
        </p:nvSpPr>
        <p:spPr>
          <a:xfrm>
            <a:off x="381000" y="428625"/>
            <a:ext cx="838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E2E8F0"/>
                </a:solidFill>
                <a:latin typeface="IBM Plex Sans"/>
                <a:ea typeface="IBM Plex Sans"/>
                <a:cs typeface="IBM Plex Sans"/>
                <a:sym typeface="IBM Plex Sans"/>
              </a:rPr>
              <a:t>HIGH-LEVEL SOFTWARE BILL OF MATERIALS &amp; CORE DEPENDENCIES</a:t>
            </a:r>
            <a:endParaRPr b="1" sz="1600">
              <a:solidFill>
                <a:srgbClr val="E2E8F0"/>
              </a:solidFill>
              <a:latin typeface="IBM Plex Sans"/>
              <a:ea typeface="IBM Plex Sans"/>
              <a:cs typeface="IBM Plex Sans"/>
              <a:sym typeface="IBM Plex Sans"/>
            </a:endParaRPr>
          </a:p>
        </p:txBody>
      </p:sp>
      <p:grpSp>
        <p:nvGrpSpPr>
          <p:cNvPr id="102" name="Google Shape;102;p15"/>
          <p:cNvGrpSpPr/>
          <p:nvPr/>
        </p:nvGrpSpPr>
        <p:grpSpPr>
          <a:xfrm>
            <a:off x="381000" y="1000125"/>
            <a:ext cx="2571900" cy="1666800"/>
            <a:chOff x="0" y="0"/>
            <a:chExt cx="2571900" cy="1666800"/>
          </a:xfrm>
        </p:grpSpPr>
        <p:sp>
          <p:nvSpPr>
            <p:cNvPr id="103" name="Google Shape;103;p15"/>
            <p:cNvSpPr/>
            <p:nvPr/>
          </p:nvSpPr>
          <p:spPr>
            <a:xfrm>
              <a:off x="0" y="0"/>
              <a:ext cx="2571900" cy="1666800"/>
            </a:xfrm>
            <a:prstGeom prst="rect">
              <a:avLst/>
            </a:prstGeom>
            <a:solidFill>
              <a:srgbClr val="121A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4" name="Google Shape;104;p15"/>
            <p:cNvSpPr/>
            <p:nvPr/>
          </p:nvSpPr>
          <p:spPr>
            <a:xfrm>
              <a:off x="0" y="0"/>
              <a:ext cx="28500" cy="16668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5"/>
            <p:cNvSpPr txBox="1"/>
            <p:nvPr/>
          </p:nvSpPr>
          <p:spPr>
            <a:xfrm>
              <a:off x="142875" y="142875"/>
              <a:ext cx="22860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00E5FF"/>
                  </a:solidFill>
                  <a:latin typeface="IBM Plex Mono SemiBold"/>
                  <a:ea typeface="IBM Plex Mono SemiBold"/>
                  <a:cs typeface="IBM Plex Mono SemiBold"/>
                  <a:sym typeface="IBM Plex Mono SemiBold"/>
                </a:rPr>
                <a:t>[ CORE APPLICATION ]</a:t>
              </a:r>
              <a:endParaRPr b="0" sz="975">
                <a:solidFill>
                  <a:srgbClr val="00E5FF"/>
                </a:solidFill>
                <a:latin typeface="IBM Plex Mono SemiBold"/>
                <a:ea typeface="IBM Plex Mono SemiBold"/>
                <a:cs typeface="IBM Plex Mono SemiBold"/>
                <a:sym typeface="IBM Plex Mono SemiBold"/>
              </a:endParaRPr>
            </a:p>
            <a:p>
              <a:pPr indent="0" lvl="0" marL="0" rtl="0" algn="l">
                <a:spcBef>
                  <a:spcPts val="450"/>
                </a:spcBef>
                <a:spcAft>
                  <a:spcPts val="0"/>
                </a:spcAft>
                <a:buNone/>
              </a:pPr>
              <a:r>
                <a:rPr b="0" lang="en" sz="850">
                  <a:solidFill>
                    <a:srgbClr val="94A3B8"/>
                  </a:solidFill>
                  <a:latin typeface="IBM Plex Sans"/>
                  <a:ea typeface="IBM Plex Sans"/>
                  <a:cs typeface="IBM Plex Sans"/>
                  <a:sym typeface="IBM Plex Sans"/>
                </a:rPr>
                <a:t>Nim-based web application designed for high-performance open-source intelligence analysis and network topology mapping.</a:t>
              </a:r>
              <a:endParaRPr b="0" sz="850">
                <a:solidFill>
                  <a:srgbClr val="94A3B8"/>
                </a:solidFill>
                <a:latin typeface="IBM Plex Sans"/>
                <a:ea typeface="IBM Plex Sans"/>
                <a:cs typeface="IBM Plex Sans"/>
                <a:sym typeface="IBM Plex Sans"/>
              </a:endParaRPr>
            </a:p>
            <a:p>
              <a:pPr indent="0" lvl="0" marL="0" rtl="0" algn="l">
                <a:spcBef>
                  <a:spcPts val="600"/>
                </a:spcBef>
                <a:spcAft>
                  <a:spcPts val="0"/>
                </a:spcAft>
                <a:buNone/>
              </a:pPr>
              <a:r>
                <a:rPr b="0" lang="en" sz="900">
                  <a:solidFill>
                    <a:srgbClr val="E2E8F0"/>
                  </a:solidFill>
                  <a:latin typeface="IBM Plex Sans SemiBold"/>
                  <a:ea typeface="IBM Plex Sans SemiBold"/>
                  <a:cs typeface="IBM Plex Sans SemiBold"/>
                  <a:sym typeface="IBM Plex Sans SemiBold"/>
                </a:rPr>
                <a:t>Nim 2.2.x Web App</a:t>
              </a:r>
              <a:endParaRPr b="0" sz="900">
                <a:solidFill>
                  <a:srgbClr val="E2E8F0"/>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b="0" lang="en" sz="800">
                  <a:solidFill>
                    <a:srgbClr val="00E5FF"/>
                  </a:solidFill>
                  <a:latin typeface="IBM Plex Mono Medium"/>
                  <a:ea typeface="IBM Plex Mono Medium"/>
                  <a:cs typeface="IBM Plex Mono Medium"/>
                  <a:sym typeface="IBM Plex Mono Medium"/>
                </a:rPr>
                <a:t>LICENSE: MIT</a:t>
              </a:r>
              <a:endParaRPr b="0" sz="800">
                <a:solidFill>
                  <a:srgbClr val="00E5FF"/>
                </a:solidFill>
                <a:latin typeface="IBM Plex Mono Medium"/>
                <a:ea typeface="IBM Plex Mono Medium"/>
                <a:cs typeface="IBM Plex Mono Medium"/>
                <a:sym typeface="IBM Plex Mono Medium"/>
              </a:endParaRPr>
            </a:p>
            <a:p>
              <a:pPr indent="0" lvl="0" marL="0" rtl="0" algn="l">
                <a:spcBef>
                  <a:spcPts val="450"/>
                </a:spcBef>
                <a:spcAft>
                  <a:spcPts val="0"/>
                </a:spcAft>
                <a:buNone/>
              </a:pPr>
              <a:r>
                <a:rPr b="0" lang="en" sz="900">
                  <a:solidFill>
                    <a:srgbClr val="E2E8F0"/>
                  </a:solidFill>
                  <a:latin typeface="IBM Plex Sans SemiBold"/>
                  <a:ea typeface="IBM Plex Sans SemiBold"/>
                  <a:cs typeface="IBM Plex Sans SemiBold"/>
                  <a:sym typeface="IBM Plex Sans SemiBold"/>
                </a:rPr>
                <a:t>Dependency Control</a:t>
              </a:r>
              <a:endParaRPr b="0" sz="900">
                <a:solidFill>
                  <a:srgbClr val="E2E8F0"/>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b="0" lang="en" sz="850">
                  <a:solidFill>
                    <a:srgbClr val="94A3B8"/>
                  </a:solidFill>
                  <a:latin typeface="IBM Plex Sans"/>
                  <a:ea typeface="IBM Plex Sans"/>
                  <a:cs typeface="IBM Plex Sans"/>
                  <a:sym typeface="IBM Plex Sans"/>
                </a:rPr>
                <a:t>23 Nim packages pinned to exact versions, Git revisions, and checksums.</a:t>
              </a:r>
              <a:endParaRPr b="0" sz="850">
                <a:solidFill>
                  <a:srgbClr val="94A3B8"/>
                </a:solidFill>
                <a:latin typeface="IBM Plex Sans"/>
                <a:ea typeface="IBM Plex Sans"/>
                <a:cs typeface="IBM Plex Sans"/>
                <a:sym typeface="IBM Plex Sans"/>
              </a:endParaRPr>
            </a:p>
          </p:txBody>
        </p:sp>
      </p:grpSp>
      <p:grpSp>
        <p:nvGrpSpPr>
          <p:cNvPr id="106" name="Google Shape;106;p15"/>
          <p:cNvGrpSpPr/>
          <p:nvPr/>
        </p:nvGrpSpPr>
        <p:grpSpPr>
          <a:xfrm>
            <a:off x="381000" y="2809875"/>
            <a:ext cx="2571900" cy="1809600"/>
            <a:chOff x="0" y="0"/>
            <a:chExt cx="2571900" cy="1809600"/>
          </a:xfrm>
        </p:grpSpPr>
        <p:sp>
          <p:nvSpPr>
            <p:cNvPr id="107" name="Google Shape;107;p15"/>
            <p:cNvSpPr/>
            <p:nvPr/>
          </p:nvSpPr>
          <p:spPr>
            <a:xfrm>
              <a:off x="0" y="0"/>
              <a:ext cx="2571900" cy="1809600"/>
            </a:xfrm>
            <a:prstGeom prst="rect">
              <a:avLst/>
            </a:prstGeom>
            <a:solidFill>
              <a:srgbClr val="121A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8" name="Google Shape;108;p15"/>
            <p:cNvSpPr/>
            <p:nvPr/>
          </p:nvSpPr>
          <p:spPr>
            <a:xfrm>
              <a:off x="0" y="0"/>
              <a:ext cx="28500" cy="18096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5"/>
            <p:cNvSpPr txBox="1"/>
            <p:nvPr/>
          </p:nvSpPr>
          <p:spPr>
            <a:xfrm>
              <a:off x="142875" y="142875"/>
              <a:ext cx="22860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00E5FF"/>
                  </a:solidFill>
                  <a:latin typeface="IBM Plex Mono SemiBold"/>
                  <a:ea typeface="IBM Plex Mono SemiBold"/>
                  <a:cs typeface="IBM Plex Mono SemiBold"/>
                  <a:sym typeface="IBM Plex Mono SemiBold"/>
                </a:rPr>
                <a:t>[ ENVIRONMENT &amp; SERVICES ]</a:t>
              </a:r>
              <a:endParaRPr b="0" sz="975">
                <a:solidFill>
                  <a:srgbClr val="00E5FF"/>
                </a:solidFill>
                <a:latin typeface="IBM Plex Mono SemiBold"/>
                <a:ea typeface="IBM Plex Mono SemiBold"/>
                <a:cs typeface="IBM Plex Mono SemiBold"/>
                <a:sym typeface="IBM Plex Mono SemiBold"/>
              </a:endParaRPr>
            </a:p>
            <a:p>
              <a:pPr indent="0" lvl="0" marL="0" rtl="0" algn="l">
                <a:spcBef>
                  <a:spcPts val="450"/>
                </a:spcBef>
                <a:spcAft>
                  <a:spcPts val="0"/>
                </a:spcAft>
                <a:buNone/>
              </a:pPr>
              <a:r>
                <a:rPr b="0" lang="en" sz="900">
                  <a:solidFill>
                    <a:srgbClr val="E2E8F0"/>
                  </a:solidFill>
                  <a:latin typeface="IBM Plex Sans SemiBold"/>
                  <a:ea typeface="IBM Plex Sans SemiBold"/>
                  <a:cs typeface="IBM Plex Sans SemiBold"/>
                  <a:sym typeface="IBM Plex Sans SemiBold"/>
                </a:rPr>
                <a:t>Deployment Environment</a:t>
              </a:r>
              <a:endParaRPr b="0" sz="900">
                <a:solidFill>
                  <a:srgbClr val="E2E8F0"/>
                </a:solidFill>
                <a:latin typeface="IBM Plex Sans SemiBold"/>
                <a:ea typeface="IBM Plex Sans SemiBold"/>
                <a:cs typeface="IBM Plex Sans SemiBold"/>
                <a:sym typeface="IBM Plex Sans SemiBold"/>
              </a:endParaRPr>
            </a:p>
            <a:p>
              <a:pPr indent="0" lvl="0" marL="0" rtl="0" algn="l">
                <a:spcBef>
                  <a:spcPts val="150"/>
                </a:spcBef>
                <a:spcAft>
                  <a:spcPts val="0"/>
                </a:spcAft>
                <a:buNone/>
              </a:pPr>
              <a:r>
                <a:rPr b="0" lang="en" sz="850">
                  <a:solidFill>
                    <a:srgbClr val="94A3B8"/>
                  </a:solidFill>
                  <a:latin typeface="IBM Plex Sans"/>
                  <a:ea typeface="IBM Plex Sans"/>
                  <a:cs typeface="IBM Plex Sans"/>
                  <a:sym typeface="IBM Plex Sans"/>
                </a:rPr>
                <a:t>SQLite 3.38+, OpenSSL, and optional Poppler pdftotext utilities.</a:t>
              </a:r>
              <a:endParaRPr b="0" sz="850">
                <a:solidFill>
                  <a:srgbClr val="94A3B8"/>
                </a:solidFill>
                <a:latin typeface="IBM Plex Sans"/>
                <a:ea typeface="IBM Plex Sans"/>
                <a:cs typeface="IBM Plex Sans"/>
                <a:sym typeface="IBM Plex Sans"/>
              </a:endParaRPr>
            </a:p>
            <a:p>
              <a:pPr indent="0" lvl="0" marL="0" rtl="0" algn="l">
                <a:spcBef>
                  <a:spcPts val="600"/>
                </a:spcBef>
                <a:spcAft>
                  <a:spcPts val="0"/>
                </a:spcAft>
                <a:buNone/>
              </a:pPr>
              <a:r>
                <a:rPr b="0" lang="en" sz="900">
                  <a:solidFill>
                    <a:srgbClr val="E2E8F0"/>
                  </a:solidFill>
                  <a:latin typeface="IBM Plex Sans SemiBold"/>
                  <a:ea typeface="IBM Plex Sans SemiBold"/>
                  <a:cs typeface="IBM Plex Sans SemiBold"/>
                  <a:sym typeface="IBM Plex Sans SemiBold"/>
                </a:rPr>
                <a:t>External Service Integrations</a:t>
              </a:r>
              <a:endParaRPr b="0" sz="900">
                <a:solidFill>
                  <a:srgbClr val="E2E8F0"/>
                </a:solidFill>
                <a:latin typeface="IBM Plex Sans SemiBold"/>
                <a:ea typeface="IBM Plex Sans SemiBold"/>
                <a:cs typeface="IBM Plex Sans SemiBold"/>
                <a:sym typeface="IBM Plex Sans SemiBold"/>
              </a:endParaRPr>
            </a:p>
            <a:p>
              <a:pPr indent="0" lvl="0" marL="0" rtl="0" algn="l">
                <a:spcBef>
                  <a:spcPts val="150"/>
                </a:spcBef>
                <a:spcAft>
                  <a:spcPts val="0"/>
                </a:spcAft>
                <a:buNone/>
              </a:pPr>
              <a:r>
                <a:rPr b="0" lang="en" sz="850">
                  <a:solidFill>
                    <a:srgbClr val="94A3B8"/>
                  </a:solidFill>
                  <a:latin typeface="IBM Plex Sans"/>
                  <a:ea typeface="IBM Plex Sans"/>
                  <a:cs typeface="IBM Plex Sans"/>
                  <a:sym typeface="IBM Plex Sans"/>
                </a:rPr>
                <a:t>arXiv Preprint Metadata Integration</a:t>
              </a:r>
              <a:endParaRPr b="0" sz="850">
                <a:solidFill>
                  <a:srgbClr val="94A3B8"/>
                </a:solidFill>
                <a:latin typeface="IBM Plex Sans"/>
                <a:ea typeface="IBM Plex Sans"/>
                <a:cs typeface="IBM Plex Sans"/>
                <a:sym typeface="IBM Plex Sans"/>
              </a:endParaRPr>
            </a:p>
            <a:p>
              <a:pPr indent="0" lvl="0" marL="0" rtl="0" algn="l">
                <a:spcBef>
                  <a:spcPts val="300"/>
                </a:spcBef>
                <a:spcAft>
                  <a:spcPts val="0"/>
                </a:spcAft>
                <a:buNone/>
              </a:pPr>
              <a:r>
                <a:rPr b="0" lang="en" sz="850">
                  <a:solidFill>
                    <a:srgbClr val="94A3B8"/>
                  </a:solidFill>
                  <a:latin typeface="IBM Plex Sans"/>
                  <a:ea typeface="IBM Plex Sans"/>
                  <a:cs typeface="IBM Plex Sans"/>
                  <a:sym typeface="IBM Plex Sans"/>
                </a:rPr>
                <a:t>Google Patents Patent Data API</a:t>
              </a:r>
              <a:endParaRPr b="0" sz="850">
                <a:solidFill>
                  <a:srgbClr val="94A3B8"/>
                </a:solidFill>
                <a:latin typeface="IBM Plex Sans"/>
                <a:ea typeface="IBM Plex Sans"/>
                <a:cs typeface="IBM Plex Sans"/>
                <a:sym typeface="IBM Plex Sans"/>
              </a:endParaRPr>
            </a:p>
            <a:p>
              <a:pPr indent="0" lvl="0" marL="0" rtl="0" algn="l">
                <a:spcBef>
                  <a:spcPts val="300"/>
                </a:spcBef>
                <a:spcAft>
                  <a:spcPts val="0"/>
                </a:spcAft>
                <a:buNone/>
              </a:pPr>
              <a:r>
                <a:rPr b="0" lang="en" sz="850">
                  <a:solidFill>
                    <a:srgbClr val="94A3B8"/>
                  </a:solidFill>
                  <a:latin typeface="IBM Plex Sans"/>
                  <a:ea typeface="IBM Plex Sans"/>
                  <a:cs typeface="IBM Plex Sans"/>
                  <a:sym typeface="IBM Plex Sans"/>
                </a:rPr>
                <a:t>OpenAI-Compatible Inference Endpoint</a:t>
              </a:r>
              <a:endParaRPr b="0" sz="850">
                <a:solidFill>
                  <a:srgbClr val="94A3B8"/>
                </a:solidFill>
                <a:latin typeface="IBM Plex Sans"/>
                <a:ea typeface="IBM Plex Sans"/>
                <a:cs typeface="IBM Plex Sans"/>
                <a:sym typeface="IBM Plex Sans"/>
              </a:endParaRPr>
            </a:p>
          </p:txBody>
        </p:sp>
      </p:grpSp>
      <p:grpSp>
        <p:nvGrpSpPr>
          <p:cNvPr id="110" name="Google Shape;110;p15"/>
          <p:cNvGrpSpPr/>
          <p:nvPr/>
        </p:nvGrpSpPr>
        <p:grpSpPr>
          <a:xfrm>
            <a:off x="3095625" y="1000125"/>
            <a:ext cx="2952900" cy="3619500"/>
            <a:chOff x="0" y="0"/>
            <a:chExt cx="2952900" cy="3619500"/>
          </a:xfrm>
        </p:grpSpPr>
        <p:sp>
          <p:nvSpPr>
            <p:cNvPr id="111" name="Google Shape;111;p15"/>
            <p:cNvSpPr/>
            <p:nvPr/>
          </p:nvSpPr>
          <p:spPr>
            <a:xfrm>
              <a:off x="0" y="0"/>
              <a:ext cx="2952900" cy="3619500"/>
            </a:xfrm>
            <a:prstGeom prst="rect">
              <a:avLst/>
            </a:prstGeom>
            <a:solidFill>
              <a:srgbClr val="000000">
                <a:alpha val="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12" name="Google Shape;112;p15"/>
            <p:cNvCxnSpPr/>
            <p:nvPr/>
          </p:nvCxnSpPr>
          <p:spPr>
            <a:xfrm>
              <a:off x="0" y="381000"/>
              <a:ext cx="2952900" cy="0"/>
            </a:xfrm>
            <a:prstGeom prst="straightConnector1">
              <a:avLst/>
            </a:prstGeom>
            <a:solidFill>
              <a:srgbClr val="FFFFFF"/>
            </a:solidFill>
            <a:ln cap="flat" cmpd="sng" w="9525">
              <a:solidFill>
                <a:srgbClr val="1E293B"/>
              </a:solidFill>
              <a:prstDash val="solid"/>
              <a:round/>
              <a:headEnd len="sm" w="sm" type="none"/>
              <a:tailEnd len="sm" w="sm" type="none"/>
            </a:ln>
          </p:spPr>
        </p:cxnSp>
        <p:cxnSp>
          <p:nvCxnSpPr>
            <p:cNvPr id="113" name="Google Shape;113;p15"/>
            <p:cNvCxnSpPr/>
            <p:nvPr/>
          </p:nvCxnSpPr>
          <p:spPr>
            <a:xfrm>
              <a:off x="0" y="0"/>
              <a:ext cx="1143000" cy="0"/>
            </a:xfrm>
            <a:prstGeom prst="straightConnector1">
              <a:avLst/>
            </a:prstGeom>
            <a:solidFill>
              <a:srgbClr val="FFFFFF"/>
            </a:solidFill>
            <a:ln cap="flat" cmpd="sng" w="19050">
              <a:solidFill>
                <a:srgbClr val="00E5FF"/>
              </a:solidFill>
              <a:prstDash val="solid"/>
              <a:round/>
              <a:headEnd len="sm" w="sm" type="none"/>
              <a:tailEnd len="sm" w="sm" type="none"/>
            </a:ln>
          </p:spPr>
        </p:cxnSp>
        <p:sp>
          <p:nvSpPr>
            <p:cNvPr id="114" name="Google Shape;114;p15"/>
            <p:cNvSpPr txBox="1"/>
            <p:nvPr/>
          </p:nvSpPr>
          <p:spPr>
            <a:xfrm>
              <a:off x="142875" y="114300"/>
              <a:ext cx="2667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00E5FF"/>
                  </a:solidFill>
                  <a:latin typeface="IBM Plex Mono SemiBold"/>
                  <a:ea typeface="IBM Plex Mono SemiBold"/>
                  <a:cs typeface="IBM Plex Mono SemiBold"/>
                  <a:sym typeface="IBM Plex Mono SemiBold"/>
                </a:rPr>
                <a:t>CORE NIM PACKAGES // DEPS</a:t>
              </a:r>
              <a:endParaRPr b="0" sz="750">
                <a:solidFill>
                  <a:srgbClr val="00E5FF"/>
                </a:solidFill>
                <a:latin typeface="IBM Plex Mono SemiBold"/>
                <a:ea typeface="IBM Plex Mono SemiBold"/>
                <a:cs typeface="IBM Plex Mono SemiBold"/>
                <a:sym typeface="IBM Plex Mono SemiBold"/>
              </a:endParaRPr>
            </a:p>
          </p:txBody>
        </p:sp>
        <p:sp>
          <p:nvSpPr>
            <p:cNvPr id="115" name="Google Shape;115;p15"/>
            <p:cNvSpPr txBox="1"/>
            <p:nvPr/>
          </p:nvSpPr>
          <p:spPr>
            <a:xfrm>
              <a:off x="142875" y="523875"/>
              <a:ext cx="26670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E2E8F0"/>
                  </a:solidFill>
                  <a:latin typeface="IBM Plex Sans SemiBold"/>
                  <a:ea typeface="IBM Plex Sans SemiBold"/>
                  <a:cs typeface="IBM Plex Sans SemiBold"/>
                  <a:sym typeface="IBM Plex Sans SemiBold"/>
                </a:rPr>
                <a:t>HappyX 4.7.4</a:t>
              </a:r>
              <a:endParaRPr b="0" sz="900">
                <a:solidFill>
                  <a:srgbClr val="E2E8F0"/>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b="0" lang="en" sz="800">
                  <a:solidFill>
                    <a:srgbClr val="00E5FF"/>
                  </a:solidFill>
                  <a:latin typeface="IBM Plex Mono Medium"/>
                  <a:ea typeface="IBM Plex Mono Medium"/>
                  <a:cs typeface="IBM Plex Mono Medium"/>
                  <a:sym typeface="IBM Plex Mono Medium"/>
                </a:rPr>
                <a:t>Web Server &amp; User Interface Architecture</a:t>
              </a:r>
              <a:endParaRPr b="0" sz="800">
                <a:solidFill>
                  <a:srgbClr val="00E5FF"/>
                </a:solidFill>
                <a:latin typeface="IBM Plex Mono Medium"/>
                <a:ea typeface="IBM Plex Mono Medium"/>
                <a:cs typeface="IBM Plex Mono Medium"/>
                <a:sym typeface="IBM Plex Mono Medium"/>
              </a:endParaRPr>
            </a:p>
            <a:p>
              <a:pPr indent="0" lvl="0" marL="0" rtl="0" algn="l">
                <a:spcBef>
                  <a:spcPts val="600"/>
                </a:spcBef>
                <a:spcAft>
                  <a:spcPts val="0"/>
                </a:spcAft>
                <a:buNone/>
              </a:pPr>
              <a:r>
                <a:rPr b="0" lang="en" sz="900">
                  <a:solidFill>
                    <a:srgbClr val="E2E8F0"/>
                  </a:solidFill>
                  <a:latin typeface="IBM Plex Sans SemiBold"/>
                  <a:ea typeface="IBM Plex Sans SemiBold"/>
                  <a:cs typeface="IBM Plex Sans SemiBold"/>
                  <a:sym typeface="IBM Plex Sans SemiBold"/>
                </a:rPr>
                <a:t>Grim 0.3.1</a:t>
              </a:r>
              <a:endParaRPr b="0" sz="900">
                <a:solidFill>
                  <a:srgbClr val="E2E8F0"/>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b="0" lang="en" sz="800">
                  <a:solidFill>
                    <a:srgbClr val="00E5FF"/>
                  </a:solidFill>
                  <a:latin typeface="IBM Plex Mono Medium"/>
                  <a:ea typeface="IBM Plex Mono Medium"/>
                  <a:cs typeface="IBM Plex Mono Medium"/>
                  <a:sym typeface="IBM Plex Mono Medium"/>
                </a:rPr>
                <a:t>Adversary Graph &amp; Network Processing</a:t>
              </a:r>
              <a:endParaRPr b="0" sz="800">
                <a:solidFill>
                  <a:srgbClr val="00E5FF"/>
                </a:solidFill>
                <a:latin typeface="IBM Plex Mono Medium"/>
                <a:ea typeface="IBM Plex Mono Medium"/>
                <a:cs typeface="IBM Plex Mono Medium"/>
                <a:sym typeface="IBM Plex Mono Medium"/>
              </a:endParaRPr>
            </a:p>
            <a:p>
              <a:pPr indent="0" lvl="0" marL="0" rtl="0" algn="l">
                <a:spcBef>
                  <a:spcPts val="600"/>
                </a:spcBef>
                <a:spcAft>
                  <a:spcPts val="0"/>
                </a:spcAft>
                <a:buNone/>
              </a:pPr>
              <a:r>
                <a:rPr b="0" lang="en" sz="900">
                  <a:solidFill>
                    <a:srgbClr val="E2E8F0"/>
                  </a:solidFill>
                  <a:latin typeface="IBM Plex Sans SemiBold"/>
                  <a:ea typeface="IBM Plex Sans SemiBold"/>
                  <a:cs typeface="IBM Plex Sans SemiBold"/>
                  <a:sym typeface="IBM Plex Sans SemiBold"/>
                </a:rPr>
                <a:t>db_connector 0.1.0</a:t>
              </a:r>
              <a:endParaRPr b="0" sz="900">
                <a:solidFill>
                  <a:srgbClr val="E2E8F0"/>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b="0" lang="en" sz="800">
                  <a:solidFill>
                    <a:srgbClr val="00E5FF"/>
                  </a:solidFill>
                  <a:latin typeface="IBM Plex Mono Medium"/>
                  <a:ea typeface="IBM Plex Mono Medium"/>
                  <a:cs typeface="IBM Plex Mono Medium"/>
                  <a:sym typeface="IBM Plex Mono Medium"/>
                </a:rPr>
                <a:t>SQLite High-Fidelity Database Integration</a:t>
              </a:r>
              <a:endParaRPr b="0" sz="800">
                <a:solidFill>
                  <a:srgbClr val="00E5FF"/>
                </a:solidFill>
                <a:latin typeface="IBM Plex Mono Medium"/>
                <a:ea typeface="IBM Plex Mono Medium"/>
                <a:cs typeface="IBM Plex Mono Medium"/>
                <a:sym typeface="IBM Plex Mono Medium"/>
              </a:endParaRPr>
            </a:p>
            <a:p>
              <a:pPr indent="0" lvl="0" marL="0" rtl="0" algn="l">
                <a:spcBef>
                  <a:spcPts val="600"/>
                </a:spcBef>
                <a:spcAft>
                  <a:spcPts val="0"/>
                </a:spcAft>
                <a:buNone/>
              </a:pPr>
              <a:r>
                <a:rPr b="0" lang="en" sz="900">
                  <a:solidFill>
                    <a:srgbClr val="E2E8F0"/>
                  </a:solidFill>
                  <a:latin typeface="IBM Plex Sans SemiBold"/>
                  <a:ea typeface="IBM Plex Sans SemiBold"/>
                  <a:cs typeface="IBM Plex Sans SemiBold"/>
                  <a:sym typeface="IBM Plex Sans SemiBold"/>
                </a:rPr>
                <a:t>NimYAML 0.16.0</a:t>
              </a:r>
              <a:endParaRPr b="0" sz="900">
                <a:solidFill>
                  <a:srgbClr val="E2E8F0"/>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b="0" lang="en" sz="800">
                  <a:solidFill>
                    <a:srgbClr val="00E5FF"/>
                  </a:solidFill>
                  <a:latin typeface="IBM Plex Mono Medium"/>
                  <a:ea typeface="IBM Plex Mono Medium"/>
                  <a:cs typeface="IBM Plex Mono Medium"/>
                  <a:sym typeface="IBM Plex Mono Medium"/>
                </a:rPr>
                <a:t>Serialized Graph Configuration Compatibility</a:t>
              </a:r>
              <a:endParaRPr b="0" sz="800">
                <a:solidFill>
                  <a:srgbClr val="00E5FF"/>
                </a:solidFill>
                <a:latin typeface="IBM Plex Mono Medium"/>
                <a:ea typeface="IBM Plex Mono Medium"/>
                <a:cs typeface="IBM Plex Mono Medium"/>
                <a:sym typeface="IBM Plex Mono Medium"/>
              </a:endParaRPr>
            </a:p>
            <a:p>
              <a:pPr indent="0" lvl="0" marL="0" rtl="0" algn="l">
                <a:spcBef>
                  <a:spcPts val="600"/>
                </a:spcBef>
                <a:spcAft>
                  <a:spcPts val="0"/>
                </a:spcAft>
                <a:buNone/>
              </a:pPr>
              <a:r>
                <a:rPr b="0" lang="en" sz="900">
                  <a:solidFill>
                    <a:srgbClr val="E2E8F0"/>
                  </a:solidFill>
                  <a:latin typeface="IBM Plex Sans SemiBold"/>
                  <a:ea typeface="IBM Plex Sans SemiBold"/>
                  <a:cs typeface="IBM Plex Sans SemiBold"/>
                  <a:sym typeface="IBM Plex Sans SemiBold"/>
                </a:rPr>
                <a:t>htmlparser 0.1.0</a:t>
              </a:r>
              <a:endParaRPr b="0" sz="900">
                <a:solidFill>
                  <a:srgbClr val="E2E8F0"/>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b="0" lang="en" sz="800">
                  <a:solidFill>
                    <a:srgbClr val="00E5FF"/>
                  </a:solidFill>
                  <a:latin typeface="IBM Plex Mono Medium"/>
                  <a:ea typeface="IBM Plex Mono Medium"/>
                  <a:cs typeface="IBM Plex Mono Medium"/>
                  <a:sym typeface="IBM Plex Mono Medium"/>
                </a:rPr>
                <a:t>Automated HTML Document Parsing</a:t>
              </a:r>
              <a:endParaRPr b="0" sz="800">
                <a:solidFill>
                  <a:srgbClr val="00E5FF"/>
                </a:solidFill>
                <a:latin typeface="IBM Plex Mono Medium"/>
                <a:ea typeface="IBM Plex Mono Medium"/>
                <a:cs typeface="IBM Plex Mono Medium"/>
                <a:sym typeface="IBM Plex Mono Medium"/>
              </a:endParaRPr>
            </a:p>
            <a:p>
              <a:pPr indent="0" lvl="0" marL="0" rtl="0" algn="l">
                <a:spcBef>
                  <a:spcPts val="600"/>
                </a:spcBef>
                <a:spcAft>
                  <a:spcPts val="0"/>
                </a:spcAft>
                <a:buNone/>
              </a:pPr>
              <a:r>
                <a:rPr b="0" lang="en" sz="900">
                  <a:solidFill>
                    <a:srgbClr val="E2E8F0"/>
                  </a:solidFill>
                  <a:latin typeface="IBM Plex Sans SemiBold"/>
                  <a:ea typeface="IBM Plex Sans SemiBold"/>
                  <a:cs typeface="IBM Plex Sans SemiBold"/>
                  <a:sym typeface="IBM Plex Sans SemiBold"/>
                </a:rPr>
                <a:t>checksums 0.2.2</a:t>
              </a:r>
              <a:endParaRPr b="0" sz="900">
                <a:solidFill>
                  <a:srgbClr val="E2E8F0"/>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b="0" lang="en" sz="800">
                  <a:solidFill>
                    <a:srgbClr val="00E5FF"/>
                  </a:solidFill>
                  <a:latin typeface="IBM Plex Mono Medium"/>
                  <a:ea typeface="IBM Plex Mono Medium"/>
                  <a:cs typeface="IBM Plex Mono Medium"/>
                  <a:sym typeface="IBM Plex Mono Medium"/>
                </a:rPr>
                <a:t>Content Cryptographic Hashing</a:t>
              </a:r>
              <a:endParaRPr b="0" sz="800">
                <a:solidFill>
                  <a:srgbClr val="00E5FF"/>
                </a:solidFill>
                <a:latin typeface="IBM Plex Mono Medium"/>
                <a:ea typeface="IBM Plex Mono Medium"/>
                <a:cs typeface="IBM Plex Mono Medium"/>
                <a:sym typeface="IBM Plex Mono Medium"/>
              </a:endParaRPr>
            </a:p>
          </p:txBody>
        </p:sp>
      </p:grpSp>
      <p:grpSp>
        <p:nvGrpSpPr>
          <p:cNvPr id="116" name="Google Shape;116;p15"/>
          <p:cNvGrpSpPr/>
          <p:nvPr/>
        </p:nvGrpSpPr>
        <p:grpSpPr>
          <a:xfrm>
            <a:off x="6191250" y="1000125"/>
            <a:ext cx="2571900" cy="3619500"/>
            <a:chOff x="0" y="0"/>
            <a:chExt cx="2571900" cy="3619500"/>
          </a:xfrm>
        </p:grpSpPr>
        <p:sp>
          <p:nvSpPr>
            <p:cNvPr id="117" name="Google Shape;117;p15"/>
            <p:cNvSpPr/>
            <p:nvPr/>
          </p:nvSpPr>
          <p:spPr>
            <a:xfrm>
              <a:off x="0" y="0"/>
              <a:ext cx="2571900" cy="3619500"/>
            </a:xfrm>
            <a:prstGeom prst="rect">
              <a:avLst/>
            </a:prstGeom>
            <a:solidFill>
              <a:srgbClr val="000000">
                <a:alpha val="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18" name="Google Shape;118;p15"/>
            <p:cNvCxnSpPr/>
            <p:nvPr/>
          </p:nvCxnSpPr>
          <p:spPr>
            <a:xfrm>
              <a:off x="0" y="381000"/>
              <a:ext cx="2571900" cy="0"/>
            </a:xfrm>
            <a:prstGeom prst="straightConnector1">
              <a:avLst/>
            </a:prstGeom>
            <a:solidFill>
              <a:srgbClr val="FFFFFF"/>
            </a:solidFill>
            <a:ln cap="flat" cmpd="sng" w="9525">
              <a:solidFill>
                <a:srgbClr val="1E293B"/>
              </a:solidFill>
              <a:prstDash val="solid"/>
              <a:round/>
              <a:headEnd len="sm" w="sm" type="none"/>
              <a:tailEnd len="sm" w="sm" type="none"/>
            </a:ln>
          </p:spPr>
        </p:cxnSp>
        <p:cxnSp>
          <p:nvCxnSpPr>
            <p:cNvPr id="119" name="Google Shape;119;p15"/>
            <p:cNvCxnSpPr/>
            <p:nvPr/>
          </p:nvCxnSpPr>
          <p:spPr>
            <a:xfrm>
              <a:off x="0" y="0"/>
              <a:ext cx="1143000" cy="0"/>
            </a:xfrm>
            <a:prstGeom prst="straightConnector1">
              <a:avLst/>
            </a:prstGeom>
            <a:solidFill>
              <a:srgbClr val="FFFFFF"/>
            </a:solidFill>
            <a:ln cap="flat" cmpd="sng" w="19050">
              <a:solidFill>
                <a:srgbClr val="00E5FF"/>
              </a:solidFill>
              <a:prstDash val="solid"/>
              <a:round/>
              <a:headEnd len="sm" w="sm" type="none"/>
              <a:tailEnd len="sm" w="sm" type="none"/>
            </a:ln>
          </p:spPr>
        </p:cxnSp>
        <p:sp>
          <p:nvSpPr>
            <p:cNvPr id="120" name="Google Shape;120;p15"/>
            <p:cNvSpPr txBox="1"/>
            <p:nvPr/>
          </p:nvSpPr>
          <p:spPr>
            <a:xfrm>
              <a:off x="142875" y="114300"/>
              <a:ext cx="2286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00E5FF"/>
                  </a:solidFill>
                  <a:latin typeface="IBM Plex Mono SemiBold"/>
                  <a:ea typeface="IBM Plex Mono SemiBold"/>
                  <a:cs typeface="IBM Plex Mono SemiBold"/>
                  <a:sym typeface="IBM Plex Mono SemiBold"/>
                </a:rPr>
                <a:t>BUNDLED BROWSER ASSETS</a:t>
              </a:r>
              <a:endParaRPr b="0" sz="750">
                <a:solidFill>
                  <a:srgbClr val="00E5FF"/>
                </a:solidFill>
                <a:latin typeface="IBM Plex Mono SemiBold"/>
                <a:ea typeface="IBM Plex Mono SemiBold"/>
                <a:cs typeface="IBM Plex Mono SemiBold"/>
                <a:sym typeface="IBM Plex Mono SemiBold"/>
              </a:endParaRPr>
            </a:p>
          </p:txBody>
        </p:sp>
        <p:sp>
          <p:nvSpPr>
            <p:cNvPr id="121" name="Google Shape;121;p15"/>
            <p:cNvSpPr txBox="1"/>
            <p:nvPr/>
          </p:nvSpPr>
          <p:spPr>
            <a:xfrm>
              <a:off x="142875" y="523875"/>
              <a:ext cx="2286000" cy="29529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E2E8F0"/>
                  </a:solidFill>
                  <a:latin typeface="IBM Plex Sans SemiBold"/>
                  <a:ea typeface="IBM Plex Sans SemiBold"/>
                  <a:cs typeface="IBM Plex Sans SemiBold"/>
                  <a:sym typeface="IBM Plex Sans SemiBold"/>
                </a:rPr>
                <a:t>D3 7.9.0</a:t>
              </a:r>
              <a:endParaRPr b="0" sz="900">
                <a:solidFill>
                  <a:srgbClr val="E2E8F0"/>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b="0" lang="en" sz="800">
                  <a:solidFill>
                    <a:srgbClr val="00E5FF"/>
                  </a:solidFill>
                  <a:latin typeface="IBM Plex Mono Medium"/>
                  <a:ea typeface="IBM Plex Mono Medium"/>
                  <a:cs typeface="IBM Plex Mono Medium"/>
                  <a:sym typeface="IBM Plex Mono Medium"/>
                </a:rPr>
                <a:t>Interactive Graph Rendering</a:t>
              </a:r>
              <a:endParaRPr b="0" sz="800">
                <a:solidFill>
                  <a:srgbClr val="E2E8F0"/>
                </a:solidFill>
                <a:latin typeface="IBM Plex Sans SemiBold"/>
                <a:ea typeface="IBM Plex Sans SemiBold"/>
                <a:cs typeface="IBM Plex Sans SemiBold"/>
                <a:sym typeface="IBM Plex Sans SemiBold"/>
              </a:endParaRPr>
            </a:p>
            <a:p>
              <a:pPr indent="0" lvl="0" marL="0" rtl="0" algn="l">
                <a:spcBef>
                  <a:spcPts val="150"/>
                </a:spcBef>
                <a:spcAft>
                  <a:spcPts val="0"/>
                </a:spcAft>
                <a:buNone/>
              </a:pPr>
              <a:r>
                <a:rPr b="0" lang="en" sz="800">
                  <a:solidFill>
                    <a:srgbClr val="475569"/>
                  </a:solidFill>
                  <a:latin typeface="IBM Plex Mono"/>
                  <a:ea typeface="IBM Plex Mono"/>
                  <a:cs typeface="IBM Plex Mono"/>
                  <a:sym typeface="IBM Plex Mono"/>
                </a:rPr>
                <a:t>LICENSED VIA ISC</a:t>
              </a:r>
              <a:endParaRPr b="0" sz="800">
                <a:solidFill>
                  <a:srgbClr val="E2E8F0"/>
                </a:solidFill>
                <a:latin typeface="IBM Plex Sans SemiBold"/>
                <a:ea typeface="IBM Plex Sans SemiBold"/>
                <a:cs typeface="IBM Plex Sans SemiBold"/>
                <a:sym typeface="IBM Plex Sans SemiBold"/>
              </a:endParaRPr>
            </a:p>
            <a:p>
              <a:pPr indent="0" lvl="0" marL="0" rtl="0" algn="l">
                <a:spcBef>
                  <a:spcPts val="900"/>
                </a:spcBef>
                <a:spcAft>
                  <a:spcPts val="0"/>
                </a:spcAft>
                <a:buNone/>
              </a:pPr>
              <a:r>
                <a:rPr b="0" lang="en" sz="900">
                  <a:solidFill>
                    <a:srgbClr val="E2E8F0"/>
                  </a:solidFill>
                  <a:latin typeface="IBM Plex Sans SemiBold"/>
                  <a:ea typeface="IBM Plex Sans SemiBold"/>
                  <a:cs typeface="IBM Plex Sans SemiBold"/>
                  <a:sym typeface="IBM Plex Sans SemiBold"/>
                </a:rPr>
                <a:t>markdown-it 15.0.1</a:t>
              </a:r>
              <a:endParaRPr b="0" sz="900">
                <a:solidFill>
                  <a:srgbClr val="E2E8F0"/>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b="0" lang="en" sz="800">
                  <a:solidFill>
                    <a:srgbClr val="00E5FF"/>
                  </a:solidFill>
                  <a:latin typeface="IBM Plex Mono Medium"/>
                  <a:ea typeface="IBM Plex Mono Medium"/>
                  <a:cs typeface="IBM Plex Mono Medium"/>
                  <a:sym typeface="IBM Plex Mono Medium"/>
                </a:rPr>
                <a:t>Structured Markdown Parser</a:t>
              </a:r>
              <a:endParaRPr b="0" sz="800">
                <a:solidFill>
                  <a:srgbClr val="E2E8F0"/>
                </a:solidFill>
                <a:latin typeface="IBM Plex Sans SemiBold"/>
                <a:ea typeface="IBM Plex Sans SemiBold"/>
                <a:cs typeface="IBM Plex Sans SemiBold"/>
                <a:sym typeface="IBM Plex Sans SemiBold"/>
              </a:endParaRPr>
            </a:p>
            <a:p>
              <a:pPr indent="0" lvl="0" marL="0" rtl="0" algn="l">
                <a:spcBef>
                  <a:spcPts val="150"/>
                </a:spcBef>
                <a:spcAft>
                  <a:spcPts val="0"/>
                </a:spcAft>
                <a:buNone/>
              </a:pPr>
              <a:r>
                <a:rPr b="0" lang="en" sz="800">
                  <a:solidFill>
                    <a:srgbClr val="475569"/>
                  </a:solidFill>
                  <a:latin typeface="IBM Plex Mono"/>
                  <a:ea typeface="IBM Plex Mono"/>
                  <a:cs typeface="IBM Plex Mono"/>
                  <a:sym typeface="IBM Plex Mono"/>
                </a:rPr>
                <a:t>LICENSED VIA MIT</a:t>
              </a:r>
              <a:endParaRPr b="0" sz="800">
                <a:solidFill>
                  <a:srgbClr val="E2E8F0"/>
                </a:solidFill>
                <a:latin typeface="IBM Plex Sans SemiBold"/>
                <a:ea typeface="IBM Plex Sans SemiBold"/>
                <a:cs typeface="IBM Plex Sans SemiBold"/>
                <a:sym typeface="IBM Plex Sans SemiBold"/>
              </a:endParaRPr>
            </a:p>
            <a:p>
              <a:pPr indent="0" lvl="0" marL="0" rtl="0" algn="l">
                <a:spcBef>
                  <a:spcPts val="900"/>
                </a:spcBef>
                <a:spcAft>
                  <a:spcPts val="0"/>
                </a:spcAft>
                <a:buNone/>
              </a:pPr>
              <a:r>
                <a:rPr b="0" lang="en" sz="900">
                  <a:solidFill>
                    <a:srgbClr val="E2E8F0"/>
                  </a:solidFill>
                  <a:latin typeface="IBM Plex Sans SemiBold"/>
                  <a:ea typeface="IBM Plex Sans SemiBold"/>
                  <a:cs typeface="IBM Plex Sans SemiBold"/>
                  <a:sym typeface="IBM Plex Sans SemiBold"/>
                </a:rPr>
                <a:t>IBM Plex Fonts</a:t>
              </a:r>
              <a:endParaRPr b="0" sz="900">
                <a:solidFill>
                  <a:srgbClr val="E2E8F0"/>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b="0" lang="en" sz="800">
                  <a:solidFill>
                    <a:srgbClr val="00E5FF"/>
                  </a:solidFill>
                  <a:latin typeface="IBM Plex Mono Medium"/>
                  <a:ea typeface="IBM Plex Mono Medium"/>
                  <a:cs typeface="IBM Plex Mono Medium"/>
                  <a:sym typeface="IBM Plex Mono Medium"/>
                </a:rPr>
                <a:t>Tactical Monospaced Interface</a:t>
              </a:r>
              <a:endParaRPr b="0" sz="800">
                <a:solidFill>
                  <a:srgbClr val="E2E8F0"/>
                </a:solidFill>
                <a:latin typeface="IBM Plex Sans SemiBold"/>
                <a:ea typeface="IBM Plex Sans SemiBold"/>
                <a:cs typeface="IBM Plex Sans SemiBold"/>
                <a:sym typeface="IBM Plex Sans SemiBold"/>
              </a:endParaRPr>
            </a:p>
            <a:p>
              <a:pPr indent="0" lvl="0" marL="0" rtl="0" algn="l">
                <a:spcBef>
                  <a:spcPts val="150"/>
                </a:spcBef>
                <a:spcAft>
                  <a:spcPts val="0"/>
                </a:spcAft>
                <a:buNone/>
              </a:pPr>
              <a:r>
                <a:rPr b="0" lang="en" sz="800">
                  <a:solidFill>
                    <a:srgbClr val="475569"/>
                  </a:solidFill>
                  <a:latin typeface="IBM Plex Mono"/>
                  <a:ea typeface="IBM Plex Mono"/>
                  <a:cs typeface="IBM Plex Mono"/>
                  <a:sym typeface="IBM Plex Mono"/>
                </a:rPr>
                <a:t>LICENSED VIA OFL-1.1</a:t>
              </a:r>
              <a:endParaRPr b="0" sz="800">
                <a:solidFill>
                  <a:srgbClr val="E2E8F0"/>
                </a:solidFill>
                <a:latin typeface="IBM Plex Sans SemiBold"/>
                <a:ea typeface="IBM Plex Sans SemiBold"/>
                <a:cs typeface="IBM Plex Sans SemiBold"/>
                <a:sym typeface="IBM Plex Sans SemiBold"/>
              </a:endParaRPr>
            </a:p>
            <a:p>
              <a:pPr indent="0" lvl="0" marL="0" rtl="0" algn="l">
                <a:spcBef>
                  <a:spcPts val="900"/>
                </a:spcBef>
                <a:spcAft>
                  <a:spcPts val="0"/>
                </a:spcAft>
                <a:buNone/>
              </a:pPr>
              <a:r>
                <a:rPr b="0" lang="en" sz="750">
                  <a:solidFill>
                    <a:srgbClr val="00E5FF"/>
                  </a:solidFill>
                  <a:latin typeface="IBM Plex Mono SemiBold"/>
                  <a:ea typeface="IBM Plex Mono SemiBold"/>
                  <a:cs typeface="IBM Plex Mono SemiBold"/>
                  <a:sym typeface="IBM Plex Mono SemiBold"/>
                </a:rPr>
                <a:t>[ PREDICTIVE ANALYSIS ]</a:t>
              </a:r>
              <a:endParaRPr b="0" sz="750">
                <a:solidFill>
                  <a:srgbClr val="E2E8F0"/>
                </a:solidFill>
                <a:latin typeface="IBM Plex Sans SemiBold"/>
                <a:ea typeface="IBM Plex Sans SemiBold"/>
                <a:cs typeface="IBM Plex Sans SemiBold"/>
                <a:sym typeface="IBM Plex Sans SemiBold"/>
              </a:endParaRPr>
            </a:p>
            <a:p>
              <a:pPr indent="0" lvl="0" marL="0" rtl="0" algn="l">
                <a:spcBef>
                  <a:spcPts val="450"/>
                </a:spcBef>
                <a:spcAft>
                  <a:spcPts val="0"/>
                </a:spcAft>
                <a:buNone/>
              </a:pPr>
              <a:r>
                <a:rPr b="0" lang="en" sz="850">
                  <a:solidFill>
                    <a:srgbClr val="94A3B8"/>
                  </a:solidFill>
                  <a:latin typeface="IBM Plex Sans"/>
                  <a:ea typeface="IBM Plex Sans"/>
                  <a:cs typeface="IBM Plex Sans"/>
                  <a:sym typeface="IBM Plex Sans"/>
                </a:rPr>
                <a:t>Advanced forecasting models identify and project target hardware platforms, critical software stacks, and development methodologies.</a:t>
              </a:r>
              <a:endParaRPr b="0" sz="850">
                <a:solidFill>
                  <a:srgbClr val="E2E8F0"/>
                </a:solidFill>
                <a:latin typeface="IBM Plex Sans SemiBold"/>
                <a:ea typeface="IBM Plex Sans SemiBold"/>
                <a:cs typeface="IBM Plex Sans SemiBold"/>
                <a:sym typeface="IBM Plex Sans SemiBold"/>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6"/>
          <p:cNvSpPr/>
          <p:nvPr/>
        </p:nvSpPr>
        <p:spPr>
          <a:xfrm>
            <a:off x="0" y="0"/>
            <a:ext cx="9144000" cy="5143500"/>
          </a:xfrm>
          <a:prstGeom prst="rect">
            <a:avLst/>
          </a:prstGeom>
          <a:solidFill>
            <a:srgbClr val="090D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27" name="Google Shape;127;p16"/>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128" name="Google Shape;128;p16"/>
          <p:cNvSpPr/>
          <p:nvPr/>
        </p:nvSpPr>
        <p:spPr>
          <a:xfrm>
            <a:off x="190500" y="190500"/>
            <a:ext cx="381000" cy="4762500"/>
          </a:xfrm>
          <a:prstGeom prst="rect">
            <a:avLst/>
          </a:prstGeom>
          <a:solidFill>
            <a:srgbClr val="000000">
              <a:alpha val="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6"/>
          <p:cNvSpPr/>
          <p:nvPr/>
        </p:nvSpPr>
        <p:spPr>
          <a:xfrm>
            <a:off x="190500" y="190500"/>
            <a:ext cx="381000" cy="285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6"/>
          <p:cNvSpPr/>
          <p:nvPr/>
        </p:nvSpPr>
        <p:spPr>
          <a:xfrm>
            <a:off x="342900" y="438150"/>
            <a:ext cx="76200" cy="76200"/>
          </a:xfrm>
          <a:prstGeom prst="ellipse">
            <a:avLst/>
          </a:prstGeom>
          <a:solidFill>
            <a:srgbClr val="000000">
              <a:alpha val="0"/>
            </a:srgbClr>
          </a:solidFill>
          <a:ln cap="flat" cmpd="sng" w="1430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6"/>
          <p:cNvSpPr/>
          <p:nvPr/>
        </p:nvSpPr>
        <p:spPr>
          <a:xfrm>
            <a:off x="342900" y="723900"/>
            <a:ext cx="76200" cy="76200"/>
          </a:xfrm>
          <a:prstGeom prst="ellipse">
            <a:avLst/>
          </a:pr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6"/>
          <p:cNvSpPr/>
          <p:nvPr/>
        </p:nvSpPr>
        <p:spPr>
          <a:xfrm>
            <a:off x="342900" y="1009650"/>
            <a:ext cx="76200" cy="76200"/>
          </a:xfrm>
          <a:prstGeom prst="ellipse">
            <a:avLst/>
          </a:pr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33" name="Google Shape;133;p16"/>
          <p:cNvGrpSpPr/>
          <p:nvPr/>
        </p:nvGrpSpPr>
        <p:grpSpPr>
          <a:xfrm>
            <a:off x="762000" y="285750"/>
            <a:ext cx="2952750" cy="142800"/>
            <a:chOff x="0" y="0"/>
            <a:chExt cx="2952750" cy="142800"/>
          </a:xfrm>
        </p:grpSpPr>
        <p:sp>
          <p:nvSpPr>
            <p:cNvPr id="134" name="Google Shape;134;p16"/>
            <p:cNvSpPr/>
            <p:nvPr/>
          </p:nvSpPr>
          <p:spPr>
            <a:xfrm>
              <a:off x="0" y="0"/>
              <a:ext cx="28500" cy="1143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5" name="Google Shape;135;p16"/>
            <p:cNvSpPr txBox="1"/>
            <p:nvPr/>
          </p:nvSpPr>
          <p:spPr>
            <a:xfrm>
              <a:off x="95250" y="0"/>
              <a:ext cx="2857500" cy="14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475569"/>
                  </a:solidFill>
                  <a:latin typeface="IBM Plex Mono"/>
                  <a:ea typeface="IBM Plex Mono"/>
                  <a:cs typeface="IBM Plex Mono"/>
                  <a:sym typeface="IBM Plex Mono"/>
                </a:rPr>
                <a:t>SYS.OP // NLP-PIPELINE // TRK-88</a:t>
              </a:r>
              <a:endParaRPr b="0" sz="750">
                <a:solidFill>
                  <a:srgbClr val="475569"/>
                </a:solidFill>
                <a:latin typeface="IBM Plex Mono"/>
                <a:ea typeface="IBM Plex Mono"/>
                <a:cs typeface="IBM Plex Mono"/>
                <a:sym typeface="IBM Plex Mono"/>
              </a:endParaRPr>
            </a:p>
          </p:txBody>
        </p:sp>
      </p:grpSp>
      <p:cxnSp>
        <p:nvCxnSpPr>
          <p:cNvPr id="136" name="Google Shape;136;p16"/>
          <p:cNvCxnSpPr/>
          <p:nvPr/>
        </p:nvCxnSpPr>
        <p:spPr>
          <a:xfrm>
            <a:off x="762000" y="762000"/>
            <a:ext cx="8191500" cy="0"/>
          </a:xfrm>
          <a:prstGeom prst="straightConnector1">
            <a:avLst/>
          </a:prstGeom>
          <a:solidFill>
            <a:srgbClr val="FFFFFF"/>
          </a:solidFill>
          <a:ln cap="flat" cmpd="sng" w="9525">
            <a:solidFill>
              <a:srgbClr val="1E293B"/>
            </a:solidFill>
            <a:prstDash val="solid"/>
            <a:round/>
            <a:headEnd len="sm" w="sm" type="none"/>
            <a:tailEnd len="sm" w="sm" type="none"/>
          </a:ln>
        </p:spPr>
      </p:cxnSp>
      <p:grpSp>
        <p:nvGrpSpPr>
          <p:cNvPr id="137" name="Google Shape;137;p16"/>
          <p:cNvGrpSpPr/>
          <p:nvPr/>
        </p:nvGrpSpPr>
        <p:grpSpPr>
          <a:xfrm>
            <a:off x="185738" y="185738"/>
            <a:ext cx="8772563" cy="4772063"/>
            <a:chOff x="185738" y="185738"/>
            <a:chExt cx="8772563" cy="4772063"/>
          </a:xfrm>
        </p:grpSpPr>
        <p:pic>
          <p:nvPicPr>
            <p:cNvPr id="138" name="Google Shape;138;p16"/>
            <p:cNvPicPr preferRelativeResize="0"/>
            <p:nvPr/>
          </p:nvPicPr>
          <p:blipFill rotWithShape="1">
            <a:blip r:embed="rId4">
              <a:alphaModFix/>
            </a:blip>
            <a:srcRect b="0" l="0" r="0" t="0"/>
            <a:stretch/>
          </p:blipFill>
          <p:spPr>
            <a:xfrm>
              <a:off x="185738" y="185738"/>
              <a:ext cx="195300" cy="195300"/>
            </a:xfrm>
            <a:prstGeom prst="rect">
              <a:avLst/>
            </a:prstGeom>
            <a:noFill/>
            <a:ln>
              <a:noFill/>
            </a:ln>
          </p:spPr>
        </p:pic>
        <p:pic>
          <p:nvPicPr>
            <p:cNvPr id="139" name="Google Shape;139;p16"/>
            <p:cNvPicPr preferRelativeResize="0"/>
            <p:nvPr/>
          </p:nvPicPr>
          <p:blipFill rotWithShape="1">
            <a:blip r:embed="rId5">
              <a:alphaModFix/>
            </a:blip>
            <a:srcRect b="0" l="0" r="0" t="0"/>
            <a:stretch/>
          </p:blipFill>
          <p:spPr>
            <a:xfrm>
              <a:off x="8763000" y="185738"/>
              <a:ext cx="195300" cy="195300"/>
            </a:xfrm>
            <a:prstGeom prst="rect">
              <a:avLst/>
            </a:prstGeom>
            <a:noFill/>
            <a:ln>
              <a:noFill/>
            </a:ln>
          </p:spPr>
        </p:pic>
        <p:pic>
          <p:nvPicPr>
            <p:cNvPr id="140" name="Google Shape;140;p16"/>
            <p:cNvPicPr preferRelativeResize="0"/>
            <p:nvPr/>
          </p:nvPicPr>
          <p:blipFill rotWithShape="1">
            <a:blip r:embed="rId6">
              <a:alphaModFix/>
            </a:blip>
            <a:srcRect b="0" l="0" r="0" t="0"/>
            <a:stretch/>
          </p:blipFill>
          <p:spPr>
            <a:xfrm>
              <a:off x="185738" y="4762500"/>
              <a:ext cx="195300" cy="195300"/>
            </a:xfrm>
            <a:prstGeom prst="rect">
              <a:avLst/>
            </a:prstGeom>
            <a:noFill/>
            <a:ln>
              <a:noFill/>
            </a:ln>
          </p:spPr>
        </p:pic>
        <p:pic>
          <p:nvPicPr>
            <p:cNvPr id="141" name="Google Shape;141;p16"/>
            <p:cNvPicPr preferRelativeResize="0"/>
            <p:nvPr/>
          </p:nvPicPr>
          <p:blipFill rotWithShape="1">
            <a:blip r:embed="rId7">
              <a:alphaModFix/>
            </a:blip>
            <a:srcRect b="0" l="0" r="0" t="0"/>
            <a:stretch/>
          </p:blipFill>
          <p:spPr>
            <a:xfrm>
              <a:off x="8763000" y="4762500"/>
              <a:ext cx="195300" cy="195300"/>
            </a:xfrm>
            <a:prstGeom prst="rect">
              <a:avLst/>
            </a:prstGeom>
            <a:noFill/>
            <a:ln>
              <a:noFill/>
            </a:ln>
          </p:spPr>
        </p:pic>
      </p:grpSp>
      <p:sp>
        <p:nvSpPr>
          <p:cNvPr id="142" name="Google Shape;142;p16"/>
          <p:cNvSpPr txBox="1"/>
          <p:nvPr/>
        </p:nvSpPr>
        <p:spPr>
          <a:xfrm>
            <a:off x="762000" y="904875"/>
            <a:ext cx="8001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800">
                <a:solidFill>
                  <a:srgbClr val="E2E8F0"/>
                </a:solidFill>
                <a:latin typeface="IBM Plex Sans"/>
                <a:ea typeface="IBM Plex Sans"/>
                <a:cs typeface="IBM Plex Sans"/>
                <a:sym typeface="IBM Plex Sans"/>
              </a:rPr>
              <a:t>AUTOMATED NLP PIPELINES EXTRACT ACTIONABLE INTELLIGENCE</a:t>
            </a:r>
            <a:endParaRPr b="1" sz="1800">
              <a:solidFill>
                <a:srgbClr val="E2E8F0"/>
              </a:solidFill>
              <a:latin typeface="IBM Plex Sans"/>
              <a:ea typeface="IBM Plex Sans"/>
              <a:cs typeface="IBM Plex Sans"/>
              <a:sym typeface="IBM Plex Sans"/>
            </a:endParaRPr>
          </a:p>
          <a:p>
            <a:pPr indent="0" lvl="0" marL="0" rtl="0" algn="l">
              <a:spcBef>
                <a:spcPts val="300"/>
              </a:spcBef>
              <a:spcAft>
                <a:spcPts val="0"/>
              </a:spcAft>
              <a:buNone/>
            </a:pPr>
            <a:r>
              <a:rPr b="1" lang="en" sz="1800">
                <a:solidFill>
                  <a:srgbClr val="00E5FF"/>
                </a:solidFill>
                <a:latin typeface="IBM Plex Sans"/>
                <a:ea typeface="IBM Plex Sans"/>
                <a:cs typeface="IBM Plex Sans"/>
                <a:sym typeface="IBM Plex Sans"/>
              </a:rPr>
              <a:t>FROM FRAGMENTED DATA</a:t>
            </a:r>
            <a:endParaRPr b="1" sz="1800">
              <a:solidFill>
                <a:srgbClr val="00E5FF"/>
              </a:solidFill>
              <a:latin typeface="IBM Plex Sans"/>
              <a:ea typeface="IBM Plex Sans"/>
              <a:cs typeface="IBM Plex Sans"/>
              <a:sym typeface="IBM Plex Sans"/>
            </a:endParaRPr>
          </a:p>
        </p:txBody>
      </p:sp>
      <p:cxnSp>
        <p:nvCxnSpPr>
          <p:cNvPr id="143" name="Google Shape;143;p16"/>
          <p:cNvCxnSpPr/>
          <p:nvPr/>
        </p:nvCxnSpPr>
        <p:spPr>
          <a:xfrm>
            <a:off x="857250" y="2190750"/>
            <a:ext cx="0" cy="1905000"/>
          </a:xfrm>
          <a:prstGeom prst="straightConnector1">
            <a:avLst/>
          </a:prstGeom>
          <a:solidFill>
            <a:srgbClr val="FFFFFF"/>
          </a:solidFill>
          <a:ln cap="flat" cmpd="sng" w="9525">
            <a:solidFill>
              <a:srgbClr val="005B66"/>
            </a:solidFill>
            <a:prstDash val="solid"/>
            <a:round/>
            <a:headEnd len="sm" w="sm" type="none"/>
            <a:tailEnd len="sm" w="sm" type="none"/>
          </a:ln>
        </p:spPr>
      </p:cxnSp>
      <p:grpSp>
        <p:nvGrpSpPr>
          <p:cNvPr id="144" name="Google Shape;144;p16"/>
          <p:cNvGrpSpPr/>
          <p:nvPr/>
        </p:nvGrpSpPr>
        <p:grpSpPr>
          <a:xfrm>
            <a:off x="809625" y="2143125"/>
            <a:ext cx="95400" cy="95400"/>
            <a:chOff x="9525" y="9525"/>
            <a:chExt cx="95400" cy="95400"/>
          </a:xfrm>
        </p:grpSpPr>
        <p:sp>
          <p:nvSpPr>
            <p:cNvPr id="145" name="Google Shape;145;p16"/>
            <p:cNvSpPr/>
            <p:nvPr/>
          </p:nvSpPr>
          <p:spPr>
            <a:xfrm>
              <a:off x="9525" y="9525"/>
              <a:ext cx="95400" cy="95400"/>
            </a:xfrm>
            <a:prstGeom prst="ellipse">
              <a:avLst/>
            </a:prstGeom>
            <a:solidFill>
              <a:srgbClr val="000000">
                <a:alpha val="0"/>
              </a:srgbClr>
            </a:solidFill>
            <a:ln cap="flat" cmpd="sng" w="1430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6"/>
            <p:cNvSpPr/>
            <p:nvPr/>
          </p:nvSpPr>
          <p:spPr>
            <a:xfrm>
              <a:off x="38100" y="38100"/>
              <a:ext cx="38100" cy="381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47" name="Google Shape;147;p16"/>
          <p:cNvSpPr txBox="1"/>
          <p:nvPr/>
        </p:nvSpPr>
        <p:spPr>
          <a:xfrm>
            <a:off x="1047750" y="1762125"/>
            <a:ext cx="4572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00E5FF"/>
                </a:solidFill>
                <a:latin typeface="IBM Plex Mono Medium"/>
                <a:ea typeface="IBM Plex Mono Medium"/>
                <a:cs typeface="IBM Plex Mono Medium"/>
                <a:sym typeface="IBM Plex Mono Medium"/>
              </a:rPr>
              <a:t>[ PHASE 01 // FOREIGN SCIENTIFIC RESEARCH ]</a:t>
            </a:r>
            <a:endParaRPr b="0" sz="975">
              <a:solidFill>
                <a:srgbClr val="00E5FF"/>
              </a:solidFill>
              <a:latin typeface="IBM Plex Mono Medium"/>
              <a:ea typeface="IBM Plex Mono Medium"/>
              <a:cs typeface="IBM Plex Mono Medium"/>
              <a:sym typeface="IBM Plex Mono Medium"/>
            </a:endParaRPr>
          </a:p>
          <a:p>
            <a:pPr indent="0" lvl="0" marL="0" rtl="0" algn="l">
              <a:spcBef>
                <a:spcPts val="300"/>
              </a:spcBef>
              <a:spcAft>
                <a:spcPts val="0"/>
              </a:spcAft>
              <a:buNone/>
            </a:pPr>
            <a:r>
              <a:rPr b="0" lang="en" sz="975">
                <a:solidFill>
                  <a:srgbClr val="94A3B8"/>
                </a:solidFill>
                <a:latin typeface="IBM Plex Sans"/>
                <a:ea typeface="IBM Plex Sans"/>
                <a:cs typeface="IBM Plex Sans"/>
                <a:sym typeface="IBM Plex Sans"/>
              </a:rPr>
              <a:t>Natural Language Processing algorithms systematically parse simulated physics and aerospace engineering papers from international repositories to identify emerging hypersonic research trends.</a:t>
            </a:r>
            <a:endParaRPr b="0" sz="975">
              <a:solidFill>
                <a:srgbClr val="94A3B8"/>
              </a:solidFill>
              <a:latin typeface="IBM Plex Sans"/>
              <a:ea typeface="IBM Plex Sans"/>
              <a:cs typeface="IBM Plex Sans"/>
              <a:sym typeface="IBM Plex Sans"/>
            </a:endParaRPr>
          </a:p>
        </p:txBody>
      </p:sp>
      <p:grpSp>
        <p:nvGrpSpPr>
          <p:cNvPr id="148" name="Google Shape;148;p16"/>
          <p:cNvGrpSpPr/>
          <p:nvPr/>
        </p:nvGrpSpPr>
        <p:grpSpPr>
          <a:xfrm>
            <a:off x="809625" y="3095625"/>
            <a:ext cx="95400" cy="95400"/>
            <a:chOff x="9525" y="9525"/>
            <a:chExt cx="95400" cy="95400"/>
          </a:xfrm>
        </p:grpSpPr>
        <p:sp>
          <p:nvSpPr>
            <p:cNvPr id="149" name="Google Shape;149;p16"/>
            <p:cNvSpPr/>
            <p:nvPr/>
          </p:nvSpPr>
          <p:spPr>
            <a:xfrm>
              <a:off x="9525" y="9525"/>
              <a:ext cx="95400" cy="95400"/>
            </a:xfrm>
            <a:prstGeom prst="ellipse">
              <a:avLst/>
            </a:prstGeom>
            <a:solidFill>
              <a:srgbClr val="000000">
                <a:alpha val="0"/>
              </a:srgbClr>
            </a:solidFill>
            <a:ln cap="flat" cmpd="sng" w="1430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0" name="Google Shape;150;p16"/>
            <p:cNvSpPr/>
            <p:nvPr/>
          </p:nvSpPr>
          <p:spPr>
            <a:xfrm>
              <a:off x="38100" y="38100"/>
              <a:ext cx="38100" cy="381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51" name="Google Shape;151;p16"/>
          <p:cNvSpPr txBox="1"/>
          <p:nvPr/>
        </p:nvSpPr>
        <p:spPr>
          <a:xfrm>
            <a:off x="1047750" y="2714625"/>
            <a:ext cx="4572000" cy="85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00E5FF"/>
                </a:solidFill>
                <a:latin typeface="IBM Plex Mono Medium"/>
                <a:ea typeface="IBM Plex Mono Medium"/>
                <a:cs typeface="IBM Plex Mono Medium"/>
                <a:sym typeface="IBM Plex Mono Medium"/>
              </a:rPr>
              <a:t>[ PHASE 02 // GLOBAL PATENT ANALYSIS ]</a:t>
            </a:r>
            <a:endParaRPr b="0" sz="975">
              <a:solidFill>
                <a:srgbClr val="00E5FF"/>
              </a:solidFill>
              <a:latin typeface="IBM Plex Mono Medium"/>
              <a:ea typeface="IBM Plex Mono Medium"/>
              <a:cs typeface="IBM Plex Mono Medium"/>
              <a:sym typeface="IBM Plex Mono Medium"/>
            </a:endParaRPr>
          </a:p>
          <a:p>
            <a:pPr indent="0" lvl="0" marL="0" rtl="0" algn="l">
              <a:spcBef>
                <a:spcPts val="300"/>
              </a:spcBef>
              <a:spcAft>
                <a:spcPts val="0"/>
              </a:spcAft>
              <a:buNone/>
            </a:pPr>
            <a:r>
              <a:rPr b="0" lang="en" sz="975">
                <a:solidFill>
                  <a:srgbClr val="94A3B8"/>
                </a:solidFill>
                <a:latin typeface="IBM Plex Sans"/>
                <a:ea typeface="IBM Plex Sans"/>
                <a:cs typeface="IBM Plex Sans"/>
                <a:sym typeface="IBM Plex Sans"/>
              </a:rPr>
              <a:t>Automated ingestion of international patent databases reveals proprietary advancements in high-stress metallurgy and scramjet propulsion systems.</a:t>
            </a:r>
            <a:endParaRPr b="0" sz="975">
              <a:solidFill>
                <a:srgbClr val="94A3B8"/>
              </a:solidFill>
              <a:latin typeface="IBM Plex Sans"/>
              <a:ea typeface="IBM Plex Sans"/>
              <a:cs typeface="IBM Plex Sans"/>
              <a:sym typeface="IBM Plex Sans"/>
            </a:endParaRPr>
          </a:p>
        </p:txBody>
      </p:sp>
      <p:grpSp>
        <p:nvGrpSpPr>
          <p:cNvPr id="152" name="Google Shape;152;p16"/>
          <p:cNvGrpSpPr/>
          <p:nvPr/>
        </p:nvGrpSpPr>
        <p:grpSpPr>
          <a:xfrm>
            <a:off x="809625" y="4048125"/>
            <a:ext cx="95400" cy="95400"/>
            <a:chOff x="9525" y="9525"/>
            <a:chExt cx="95400" cy="95400"/>
          </a:xfrm>
        </p:grpSpPr>
        <p:sp>
          <p:nvSpPr>
            <p:cNvPr id="153" name="Google Shape;153;p16"/>
            <p:cNvSpPr/>
            <p:nvPr/>
          </p:nvSpPr>
          <p:spPr>
            <a:xfrm>
              <a:off x="9525" y="9525"/>
              <a:ext cx="95400" cy="95400"/>
            </a:xfrm>
            <a:prstGeom prst="ellipse">
              <a:avLst/>
            </a:prstGeom>
            <a:solidFill>
              <a:srgbClr val="000000">
                <a:alpha val="0"/>
              </a:srgbClr>
            </a:solidFill>
            <a:ln cap="flat" cmpd="sng" w="1430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 name="Google Shape;154;p16"/>
            <p:cNvSpPr/>
            <p:nvPr/>
          </p:nvSpPr>
          <p:spPr>
            <a:xfrm>
              <a:off x="38100" y="38100"/>
              <a:ext cx="38100" cy="381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55" name="Google Shape;155;p16"/>
          <p:cNvSpPr txBox="1"/>
          <p:nvPr/>
        </p:nvSpPr>
        <p:spPr>
          <a:xfrm>
            <a:off x="1047750" y="3667125"/>
            <a:ext cx="4572000" cy="857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00E5FF"/>
                </a:solidFill>
                <a:latin typeface="IBM Plex Mono Medium"/>
                <a:ea typeface="IBM Plex Mono Medium"/>
                <a:cs typeface="IBM Plex Mono Medium"/>
                <a:sym typeface="IBM Plex Mono Medium"/>
              </a:rPr>
              <a:t>[ PHASE 03 // CO-CITATION NETWORKS ]</a:t>
            </a:r>
            <a:endParaRPr b="0" sz="975">
              <a:solidFill>
                <a:srgbClr val="00E5FF"/>
              </a:solidFill>
              <a:latin typeface="IBM Plex Mono Medium"/>
              <a:ea typeface="IBM Plex Mono Medium"/>
              <a:cs typeface="IBM Plex Mono Medium"/>
              <a:sym typeface="IBM Plex Mono Medium"/>
            </a:endParaRPr>
          </a:p>
          <a:p>
            <a:pPr indent="0" lvl="0" marL="0" rtl="0" algn="l">
              <a:spcBef>
                <a:spcPts val="300"/>
              </a:spcBef>
              <a:spcAft>
                <a:spcPts val="300"/>
              </a:spcAft>
              <a:buNone/>
            </a:pPr>
            <a:r>
              <a:rPr b="0" lang="en" sz="975">
                <a:solidFill>
                  <a:srgbClr val="94A3B8"/>
                </a:solidFill>
                <a:latin typeface="IBM Plex Sans"/>
                <a:ea typeface="IBM Plex Sans"/>
                <a:cs typeface="IBM Plex Sans"/>
                <a:sym typeface="IBM Plex Sans"/>
              </a:rPr>
              <a:t>Citation and co-authorship graph analysis maps academic researchers directly to their foundational discoveries and related publications, tracing the lineage of scientific innovation.</a:t>
            </a:r>
            <a:endParaRPr b="0" sz="975">
              <a:solidFill>
                <a:srgbClr val="00E5FF"/>
              </a:solidFill>
              <a:latin typeface="IBM Plex Mono Medium"/>
              <a:ea typeface="IBM Plex Mono Medium"/>
              <a:cs typeface="IBM Plex Mono Medium"/>
              <a:sym typeface="IBM Plex Mono Medium"/>
            </a:endParaRPr>
          </a:p>
        </p:txBody>
      </p:sp>
      <p:grpSp>
        <p:nvGrpSpPr>
          <p:cNvPr id="156" name="Google Shape;156;p16"/>
          <p:cNvGrpSpPr/>
          <p:nvPr/>
        </p:nvGrpSpPr>
        <p:grpSpPr>
          <a:xfrm>
            <a:off x="5810250" y="1762125"/>
            <a:ext cx="2952900" cy="2952900"/>
            <a:chOff x="0" y="0"/>
            <a:chExt cx="2952900" cy="2952900"/>
          </a:xfrm>
        </p:grpSpPr>
        <p:sp>
          <p:nvSpPr>
            <p:cNvPr id="157" name="Google Shape;157;p16"/>
            <p:cNvSpPr/>
            <p:nvPr/>
          </p:nvSpPr>
          <p:spPr>
            <a:xfrm>
              <a:off x="0" y="0"/>
              <a:ext cx="2952900" cy="2952900"/>
            </a:xfrm>
            <a:prstGeom prst="roundRect">
              <a:avLst>
                <a:gd fmla="val 1290" name="adj"/>
              </a:avLst>
            </a:prstGeom>
            <a:solidFill>
              <a:srgbClr val="000000">
                <a:alpha val="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158" name="Google Shape;158;p16"/>
            <p:cNvCxnSpPr/>
            <p:nvPr/>
          </p:nvCxnSpPr>
          <p:spPr>
            <a:xfrm>
              <a:off x="0" y="333375"/>
              <a:ext cx="29529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159" name="Google Shape;159;p16"/>
            <p:cNvSpPr/>
            <p:nvPr/>
          </p:nvSpPr>
          <p:spPr>
            <a:xfrm>
              <a:off x="0" y="0"/>
              <a:ext cx="1143000" cy="381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0" name="Google Shape;160;p16"/>
            <p:cNvSpPr txBox="1"/>
            <p:nvPr/>
          </p:nvSpPr>
          <p:spPr>
            <a:xfrm>
              <a:off x="142875" y="114300"/>
              <a:ext cx="2667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750">
                  <a:solidFill>
                    <a:srgbClr val="00E5FF"/>
                  </a:solidFill>
                  <a:latin typeface="IBM Plex Mono"/>
                  <a:ea typeface="IBM Plex Mono"/>
                  <a:cs typeface="IBM Plex Mono"/>
                  <a:sym typeface="IBM Plex Mono"/>
                </a:rPr>
                <a:t>INTEL KNOWLEDGE GRAPH // RESOLVED</a:t>
              </a:r>
              <a:endParaRPr b="0" sz="750">
                <a:solidFill>
                  <a:srgbClr val="00E5FF"/>
                </a:solidFill>
                <a:latin typeface="IBM Plex Mono"/>
                <a:ea typeface="IBM Plex Mono"/>
                <a:cs typeface="IBM Plex Mono"/>
                <a:sym typeface="IBM Plex Mono"/>
              </a:endParaRPr>
            </a:p>
          </p:txBody>
        </p:sp>
        <p:pic>
          <p:nvPicPr>
            <p:cNvPr id="161" name="Google Shape;161;p16"/>
            <p:cNvPicPr preferRelativeResize="0"/>
            <p:nvPr/>
          </p:nvPicPr>
          <p:blipFill rotWithShape="1">
            <a:blip r:embed="rId8">
              <a:alphaModFix/>
            </a:blip>
            <a:srcRect b="0" l="0" r="0" t="0"/>
            <a:stretch/>
          </p:blipFill>
          <p:spPr>
            <a:xfrm>
              <a:off x="1042988" y="1138238"/>
              <a:ext cx="866700" cy="866700"/>
            </a:xfrm>
            <a:prstGeom prst="rect">
              <a:avLst/>
            </a:prstGeom>
            <a:noFill/>
            <a:ln>
              <a:noFill/>
            </a:ln>
          </p:spPr>
        </p:pic>
        <p:pic>
          <p:nvPicPr>
            <p:cNvPr id="162" name="Google Shape;162;p16"/>
            <p:cNvPicPr preferRelativeResize="0"/>
            <p:nvPr/>
          </p:nvPicPr>
          <p:blipFill rotWithShape="1">
            <a:blip r:embed="rId9">
              <a:alphaModFix/>
            </a:blip>
            <a:srcRect b="0" l="0" r="0" t="0"/>
            <a:stretch/>
          </p:blipFill>
          <p:spPr>
            <a:xfrm>
              <a:off x="757238" y="852488"/>
              <a:ext cx="1438200" cy="1438200"/>
            </a:xfrm>
            <a:prstGeom prst="rect">
              <a:avLst/>
            </a:prstGeom>
            <a:noFill/>
            <a:ln>
              <a:noFill/>
            </a:ln>
          </p:spPr>
        </p:pic>
        <p:pic>
          <p:nvPicPr>
            <p:cNvPr id="163" name="Google Shape;163;p16"/>
            <p:cNvPicPr preferRelativeResize="0"/>
            <p:nvPr/>
          </p:nvPicPr>
          <p:blipFill rotWithShape="1">
            <a:blip r:embed="rId10">
              <a:alphaModFix/>
            </a:blip>
            <a:srcRect b="0" l="0" r="0" t="0"/>
            <a:stretch/>
          </p:blipFill>
          <p:spPr>
            <a:xfrm>
              <a:off x="757238" y="1090613"/>
              <a:ext cx="723900" cy="485700"/>
            </a:xfrm>
            <a:prstGeom prst="rect">
              <a:avLst/>
            </a:prstGeom>
            <a:noFill/>
            <a:ln>
              <a:noFill/>
            </a:ln>
          </p:spPr>
        </p:pic>
        <p:pic>
          <p:nvPicPr>
            <p:cNvPr id="164" name="Google Shape;164;p16"/>
            <p:cNvPicPr preferRelativeResize="0"/>
            <p:nvPr/>
          </p:nvPicPr>
          <p:blipFill rotWithShape="1">
            <a:blip r:embed="rId11">
              <a:alphaModFix/>
            </a:blip>
            <a:srcRect b="0" l="0" r="0" t="0"/>
            <a:stretch/>
          </p:blipFill>
          <p:spPr>
            <a:xfrm>
              <a:off x="1471613" y="1090613"/>
              <a:ext cx="723900" cy="485700"/>
            </a:xfrm>
            <a:prstGeom prst="rect">
              <a:avLst/>
            </a:prstGeom>
            <a:noFill/>
            <a:ln>
              <a:noFill/>
            </a:ln>
          </p:spPr>
        </p:pic>
        <p:pic>
          <p:nvPicPr>
            <p:cNvPr id="165" name="Google Shape;165;p16"/>
            <p:cNvPicPr preferRelativeResize="0"/>
            <p:nvPr/>
          </p:nvPicPr>
          <p:blipFill rotWithShape="1">
            <a:blip r:embed="rId12">
              <a:alphaModFix/>
            </a:blip>
            <a:srcRect b="0" l="0" r="0" t="0"/>
            <a:stretch/>
          </p:blipFill>
          <p:spPr>
            <a:xfrm>
              <a:off x="1471613" y="1571625"/>
              <a:ext cx="9600" cy="743100"/>
            </a:xfrm>
            <a:prstGeom prst="rect">
              <a:avLst/>
            </a:prstGeom>
            <a:noFill/>
            <a:ln>
              <a:noFill/>
            </a:ln>
          </p:spPr>
        </p:pic>
        <p:sp>
          <p:nvSpPr>
            <p:cNvPr id="166" name="Google Shape;166;p16"/>
            <p:cNvSpPr/>
            <p:nvPr/>
          </p:nvSpPr>
          <p:spPr>
            <a:xfrm>
              <a:off x="1343025" y="1438275"/>
              <a:ext cx="266700" cy="266700"/>
            </a:xfrm>
            <a:prstGeom prst="ellipse">
              <a:avLst/>
            </a:prstGeom>
            <a:solidFill>
              <a:srgbClr val="000000">
                <a:alpha val="0"/>
              </a:srgbClr>
            </a:solidFill>
            <a:ln cap="flat" cmpd="sng" w="1430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16"/>
            <p:cNvSpPr/>
            <p:nvPr/>
          </p:nvSpPr>
          <p:spPr>
            <a:xfrm>
              <a:off x="1438275" y="1533525"/>
              <a:ext cx="76200" cy="762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6"/>
            <p:cNvSpPr txBox="1"/>
            <p:nvPr/>
          </p:nvSpPr>
          <p:spPr>
            <a:xfrm>
              <a:off x="1000125" y="1762125"/>
              <a:ext cx="9525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600">
                  <a:solidFill>
                    <a:srgbClr val="00E5FF"/>
                  </a:solidFill>
                  <a:latin typeface="IBM Plex Mono"/>
                  <a:ea typeface="IBM Plex Mono"/>
                  <a:cs typeface="IBM Plex Mono"/>
                  <a:sym typeface="IBM Plex Mono"/>
                </a:rPr>
                <a:t>[NLP ENGINE]</a:t>
              </a:r>
              <a:endParaRPr b="0" sz="600">
                <a:solidFill>
                  <a:srgbClr val="00E5FF"/>
                </a:solidFill>
                <a:latin typeface="IBM Plex Mono"/>
                <a:ea typeface="IBM Plex Mono"/>
                <a:cs typeface="IBM Plex Mono"/>
                <a:sym typeface="IBM Plex Mono"/>
              </a:endParaRPr>
            </a:p>
          </p:txBody>
        </p:sp>
        <p:sp>
          <p:nvSpPr>
            <p:cNvPr id="169" name="Google Shape;169;p16"/>
            <p:cNvSpPr/>
            <p:nvPr/>
          </p:nvSpPr>
          <p:spPr>
            <a:xfrm>
              <a:off x="685800" y="1019175"/>
              <a:ext cx="152400" cy="152400"/>
            </a:xfrm>
            <a:prstGeom prst="ellipse">
              <a:avLst/>
            </a:prstGeom>
            <a:solidFill>
              <a:srgbClr val="000000">
                <a:alpha val="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6"/>
            <p:cNvSpPr/>
            <p:nvPr/>
          </p:nvSpPr>
          <p:spPr>
            <a:xfrm>
              <a:off x="733425" y="1066800"/>
              <a:ext cx="57300" cy="573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1" name="Google Shape;171;p16"/>
            <p:cNvSpPr txBox="1"/>
            <p:nvPr/>
          </p:nvSpPr>
          <p:spPr>
            <a:xfrm>
              <a:off x="285750" y="1238250"/>
              <a:ext cx="9525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600">
                  <a:solidFill>
                    <a:srgbClr val="475569"/>
                  </a:solidFill>
                  <a:latin typeface="IBM Plex Mono"/>
                  <a:ea typeface="IBM Plex Mono"/>
                  <a:cs typeface="IBM Plex Mono"/>
                  <a:sym typeface="IBM Plex Mono"/>
                </a:rPr>
                <a:t>[RESEARCH DB]</a:t>
              </a:r>
              <a:endParaRPr b="0" sz="600">
                <a:solidFill>
                  <a:srgbClr val="475569"/>
                </a:solidFill>
                <a:latin typeface="IBM Plex Mono"/>
                <a:ea typeface="IBM Plex Mono"/>
                <a:cs typeface="IBM Plex Mono"/>
                <a:sym typeface="IBM Plex Mono"/>
              </a:endParaRPr>
            </a:p>
          </p:txBody>
        </p:sp>
        <p:sp>
          <p:nvSpPr>
            <p:cNvPr id="172" name="Google Shape;172;p16"/>
            <p:cNvSpPr/>
            <p:nvPr/>
          </p:nvSpPr>
          <p:spPr>
            <a:xfrm>
              <a:off x="2114550" y="1019175"/>
              <a:ext cx="152400" cy="152400"/>
            </a:xfrm>
            <a:prstGeom prst="ellipse">
              <a:avLst/>
            </a:prstGeom>
            <a:solidFill>
              <a:srgbClr val="000000">
                <a:alpha val="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16"/>
            <p:cNvSpPr/>
            <p:nvPr/>
          </p:nvSpPr>
          <p:spPr>
            <a:xfrm>
              <a:off x="2162175" y="1066800"/>
              <a:ext cx="57300" cy="573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4" name="Google Shape;174;p16"/>
            <p:cNvSpPr txBox="1"/>
            <p:nvPr/>
          </p:nvSpPr>
          <p:spPr>
            <a:xfrm>
              <a:off x="1714500" y="1238250"/>
              <a:ext cx="9525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600">
                  <a:solidFill>
                    <a:srgbClr val="475569"/>
                  </a:solidFill>
                  <a:latin typeface="IBM Plex Mono"/>
                  <a:ea typeface="IBM Plex Mono"/>
                  <a:cs typeface="IBM Plex Mono"/>
                  <a:sym typeface="IBM Plex Mono"/>
                </a:rPr>
                <a:t>[PATENT DB]</a:t>
              </a:r>
              <a:endParaRPr b="0" sz="600">
                <a:solidFill>
                  <a:srgbClr val="475569"/>
                </a:solidFill>
                <a:latin typeface="IBM Plex Mono"/>
                <a:ea typeface="IBM Plex Mono"/>
                <a:cs typeface="IBM Plex Mono"/>
                <a:sym typeface="IBM Plex Mono"/>
              </a:endParaRPr>
            </a:p>
          </p:txBody>
        </p:sp>
        <p:sp>
          <p:nvSpPr>
            <p:cNvPr id="175" name="Google Shape;175;p16"/>
            <p:cNvSpPr/>
            <p:nvPr/>
          </p:nvSpPr>
          <p:spPr>
            <a:xfrm>
              <a:off x="1400175" y="2257425"/>
              <a:ext cx="152400" cy="152400"/>
            </a:xfrm>
            <a:prstGeom prst="ellipse">
              <a:avLst/>
            </a:prstGeom>
            <a:solidFill>
              <a:srgbClr val="000000">
                <a:alpha val="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6" name="Google Shape;176;p16"/>
            <p:cNvSpPr/>
            <p:nvPr/>
          </p:nvSpPr>
          <p:spPr>
            <a:xfrm>
              <a:off x="1447800" y="2305050"/>
              <a:ext cx="57300" cy="573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16"/>
            <p:cNvSpPr txBox="1"/>
            <p:nvPr/>
          </p:nvSpPr>
          <p:spPr>
            <a:xfrm>
              <a:off x="1000125" y="2476500"/>
              <a:ext cx="952500" cy="190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lang="en" sz="600">
                  <a:solidFill>
                    <a:srgbClr val="475569"/>
                  </a:solidFill>
                  <a:latin typeface="IBM Plex Mono"/>
                  <a:ea typeface="IBM Plex Mono"/>
                  <a:cs typeface="IBM Plex Mono"/>
                  <a:sym typeface="IBM Plex Mono"/>
                </a:rPr>
                <a:t>[RELATED WORKS]</a:t>
              </a:r>
              <a:endParaRPr b="0" sz="600">
                <a:solidFill>
                  <a:srgbClr val="475569"/>
                </a:solidFill>
                <a:latin typeface="IBM Plex Mono"/>
                <a:ea typeface="IBM Plex Mono"/>
                <a:cs typeface="IBM Plex Mono"/>
                <a:sym typeface="IBM Plex Mono"/>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7"/>
          <p:cNvSpPr/>
          <p:nvPr/>
        </p:nvSpPr>
        <p:spPr>
          <a:xfrm>
            <a:off x="0" y="0"/>
            <a:ext cx="9144000" cy="5143500"/>
          </a:xfrm>
          <a:prstGeom prst="rect">
            <a:avLst/>
          </a:prstGeom>
          <a:solidFill>
            <a:srgbClr val="090D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83" name="Google Shape;183;p17"/>
          <p:cNvPicPr preferRelativeResize="0"/>
          <p:nvPr/>
        </p:nvPicPr>
        <p:blipFill rotWithShape="1">
          <a:blip r:embed="rId3">
            <a:alphaModFix/>
          </a:blip>
          <a:srcRect b="0" l="0" r="0" t="0"/>
          <a:stretch/>
        </p:blipFill>
        <p:spPr>
          <a:xfrm>
            <a:off x="0" y="0"/>
            <a:ext cx="9144000" cy="5143500"/>
          </a:xfrm>
          <a:prstGeom prst="rect">
            <a:avLst/>
          </a:prstGeom>
          <a:noFill/>
          <a:ln>
            <a:noFill/>
          </a:ln>
        </p:spPr>
      </p:pic>
      <p:grpSp>
        <p:nvGrpSpPr>
          <p:cNvPr id="184" name="Google Shape;184;p17"/>
          <p:cNvGrpSpPr/>
          <p:nvPr/>
        </p:nvGrpSpPr>
        <p:grpSpPr>
          <a:xfrm>
            <a:off x="190500" y="190500"/>
            <a:ext cx="8763000" cy="4762500"/>
            <a:chOff x="190500" y="190500"/>
            <a:chExt cx="8763000" cy="4762500"/>
          </a:xfrm>
        </p:grpSpPr>
        <p:sp>
          <p:nvSpPr>
            <p:cNvPr id="185" name="Google Shape;185;p17"/>
            <p:cNvSpPr/>
            <p:nvPr/>
          </p:nvSpPr>
          <p:spPr>
            <a:xfrm>
              <a:off x="190500" y="190500"/>
              <a:ext cx="190500" cy="190500"/>
            </a:xfrm>
            <a:custGeom>
              <a:rect b="b" l="l" r="r" t="t"/>
              <a:pathLst>
                <a:path extrusionOk="0" h="120000" w="120000">
                  <a:moveTo>
                    <a:pt x="0" y="120000"/>
                  </a:moveTo>
                  <a:lnTo>
                    <a:pt x="0" y="0"/>
                  </a:lnTo>
                  <a:lnTo>
                    <a:pt x="120000" y="0"/>
                  </a:lnTo>
                </a:path>
              </a:pathLst>
            </a:cu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6" name="Google Shape;186;p17"/>
            <p:cNvSpPr/>
            <p:nvPr/>
          </p:nvSpPr>
          <p:spPr>
            <a:xfrm>
              <a:off x="8763000" y="190500"/>
              <a:ext cx="190500" cy="190500"/>
            </a:xfrm>
            <a:custGeom>
              <a:rect b="b" l="l" r="r" t="t"/>
              <a:pathLst>
                <a:path extrusionOk="0" h="120000" w="120000">
                  <a:moveTo>
                    <a:pt x="120000" y="120000"/>
                  </a:moveTo>
                  <a:lnTo>
                    <a:pt x="120000" y="0"/>
                  </a:lnTo>
                  <a:lnTo>
                    <a:pt x="0" y="0"/>
                  </a:lnTo>
                </a:path>
              </a:pathLst>
            </a:cu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17"/>
            <p:cNvSpPr/>
            <p:nvPr/>
          </p:nvSpPr>
          <p:spPr>
            <a:xfrm>
              <a:off x="190500" y="4762500"/>
              <a:ext cx="190500" cy="190500"/>
            </a:xfrm>
            <a:custGeom>
              <a:rect b="b" l="l" r="r" t="t"/>
              <a:pathLst>
                <a:path extrusionOk="0" h="120000" w="120000">
                  <a:moveTo>
                    <a:pt x="0" y="0"/>
                  </a:moveTo>
                  <a:lnTo>
                    <a:pt x="0" y="120000"/>
                  </a:lnTo>
                  <a:lnTo>
                    <a:pt x="120000" y="120000"/>
                  </a:lnTo>
                </a:path>
              </a:pathLst>
            </a:cu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17"/>
            <p:cNvSpPr/>
            <p:nvPr/>
          </p:nvSpPr>
          <p:spPr>
            <a:xfrm>
              <a:off x="8763000" y="4762500"/>
              <a:ext cx="190500" cy="190500"/>
            </a:xfrm>
            <a:custGeom>
              <a:rect b="b" l="l" r="r" t="t"/>
              <a:pathLst>
                <a:path extrusionOk="0" h="120000" w="120000">
                  <a:moveTo>
                    <a:pt x="120000" y="0"/>
                  </a:moveTo>
                  <a:lnTo>
                    <a:pt x="120000" y="120000"/>
                  </a:lnTo>
                  <a:lnTo>
                    <a:pt x="0" y="120000"/>
                  </a:lnTo>
                </a:path>
              </a:pathLst>
            </a:cu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9" name="Google Shape;189;p17"/>
          <p:cNvSpPr/>
          <p:nvPr/>
        </p:nvSpPr>
        <p:spPr>
          <a:xfrm>
            <a:off x="381000" y="4762500"/>
            <a:ext cx="8382000" cy="190500"/>
          </a:xfrm>
          <a:prstGeom prst="rect">
            <a:avLst/>
          </a:prstGeom>
          <a:solidFill>
            <a:srgbClr val="121A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17"/>
          <p:cNvSpPr txBox="1"/>
          <p:nvPr/>
        </p:nvSpPr>
        <p:spPr>
          <a:xfrm>
            <a:off x="476250" y="4781550"/>
            <a:ext cx="8191500" cy="14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475569"/>
                </a:solidFill>
                <a:latin typeface="IBM Plex Mono"/>
                <a:ea typeface="IBM Plex Mono"/>
                <a:cs typeface="IBM Plex Mono"/>
                <a:sym typeface="IBM Plex Mono"/>
              </a:rPr>
              <a:t>STATUS: SECURE // LINK: STABLE // RENDER: PROGRESSIVE DISCOVERY MODE ACTIVE // CLASSIFICATION: TOP SECRET</a:t>
            </a:r>
            <a:endParaRPr b="0" sz="750">
              <a:solidFill>
                <a:srgbClr val="475569"/>
              </a:solidFill>
              <a:latin typeface="IBM Plex Mono"/>
              <a:ea typeface="IBM Plex Mono"/>
              <a:cs typeface="IBM Plex Mono"/>
              <a:sym typeface="IBM Plex Mono"/>
            </a:endParaRPr>
          </a:p>
        </p:txBody>
      </p:sp>
      <p:grpSp>
        <p:nvGrpSpPr>
          <p:cNvPr id="191" name="Google Shape;191;p17"/>
          <p:cNvGrpSpPr/>
          <p:nvPr/>
        </p:nvGrpSpPr>
        <p:grpSpPr>
          <a:xfrm>
            <a:off x="476250" y="285750"/>
            <a:ext cx="3905250" cy="142800"/>
            <a:chOff x="0" y="0"/>
            <a:chExt cx="3905250" cy="142800"/>
          </a:xfrm>
        </p:grpSpPr>
        <p:sp>
          <p:nvSpPr>
            <p:cNvPr id="192" name="Google Shape;192;p17"/>
            <p:cNvSpPr/>
            <p:nvPr/>
          </p:nvSpPr>
          <p:spPr>
            <a:xfrm>
              <a:off x="0" y="0"/>
              <a:ext cx="28500" cy="1143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17"/>
            <p:cNvSpPr txBox="1"/>
            <p:nvPr/>
          </p:nvSpPr>
          <p:spPr>
            <a:xfrm>
              <a:off x="95250" y="0"/>
              <a:ext cx="3810000" cy="14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475569"/>
                  </a:solidFill>
                  <a:latin typeface="IBM Plex Mono"/>
                  <a:ea typeface="IBM Plex Mono"/>
                  <a:cs typeface="IBM Plex Mono"/>
                  <a:sym typeface="IBM Plex Mono"/>
                </a:rPr>
                <a:t>SYS.OP // KNOWLEDGE GRAPH ENGINE // LN-447</a:t>
              </a:r>
              <a:endParaRPr b="0" sz="750">
                <a:solidFill>
                  <a:srgbClr val="475569"/>
                </a:solidFill>
                <a:latin typeface="IBM Plex Mono"/>
                <a:ea typeface="IBM Plex Mono"/>
                <a:cs typeface="IBM Plex Mono"/>
                <a:sym typeface="IBM Plex Mono"/>
              </a:endParaRPr>
            </a:p>
          </p:txBody>
        </p:sp>
      </p:grpSp>
      <p:sp>
        <p:nvSpPr>
          <p:cNvPr id="194" name="Google Shape;194;p17"/>
          <p:cNvSpPr txBox="1"/>
          <p:nvPr/>
        </p:nvSpPr>
        <p:spPr>
          <a:xfrm>
            <a:off x="476250" y="476250"/>
            <a:ext cx="81915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E2E8F0"/>
                </a:solidFill>
                <a:latin typeface="IBM Plex Sans"/>
                <a:ea typeface="IBM Plex Sans"/>
                <a:cs typeface="IBM Plex Sans"/>
                <a:sym typeface="IBM Plex Sans"/>
              </a:rPr>
              <a:t>Knowledge Graphs Transform Unstructured Data into High-Fidelity Network Maps</a:t>
            </a:r>
            <a:endParaRPr b="1" sz="2000">
              <a:solidFill>
                <a:srgbClr val="E2E8F0"/>
              </a:solidFill>
              <a:latin typeface="IBM Plex Sans"/>
              <a:ea typeface="IBM Plex Sans"/>
              <a:cs typeface="IBM Plex Sans"/>
              <a:sym typeface="IBM Plex Sans"/>
            </a:endParaRPr>
          </a:p>
        </p:txBody>
      </p:sp>
      <p:grpSp>
        <p:nvGrpSpPr>
          <p:cNvPr id="195" name="Google Shape;195;p17"/>
          <p:cNvGrpSpPr/>
          <p:nvPr/>
        </p:nvGrpSpPr>
        <p:grpSpPr>
          <a:xfrm>
            <a:off x="476250" y="1333500"/>
            <a:ext cx="3048000" cy="1000200"/>
            <a:chOff x="0" y="0"/>
            <a:chExt cx="3048000" cy="1000200"/>
          </a:xfrm>
        </p:grpSpPr>
        <p:sp>
          <p:nvSpPr>
            <p:cNvPr id="196" name="Google Shape;196;p17"/>
            <p:cNvSpPr/>
            <p:nvPr/>
          </p:nvSpPr>
          <p:spPr>
            <a:xfrm>
              <a:off x="0" y="0"/>
              <a:ext cx="3048000" cy="1000200"/>
            </a:xfrm>
            <a:prstGeom prst="rect">
              <a:avLst/>
            </a:prstGeom>
            <a:solidFill>
              <a:srgbClr val="121A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17"/>
            <p:cNvSpPr/>
            <p:nvPr/>
          </p:nvSpPr>
          <p:spPr>
            <a:xfrm>
              <a:off x="0" y="0"/>
              <a:ext cx="28500" cy="10002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17"/>
            <p:cNvSpPr txBox="1"/>
            <p:nvPr/>
          </p:nvSpPr>
          <p:spPr>
            <a:xfrm>
              <a:off x="142875" y="114300"/>
              <a:ext cx="2762400" cy="771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18">
                  <a:solidFill>
                    <a:srgbClr val="00E5FF"/>
                  </a:solidFill>
                  <a:latin typeface="IBM Plex Mono Medium"/>
                  <a:ea typeface="IBM Plex Mono Medium"/>
                  <a:cs typeface="IBM Plex Mono Medium"/>
                  <a:sym typeface="IBM Plex Mono Medium"/>
                </a:rPr>
                <a:t>[ARXIV &amp; PATENT RESOLUTION]</a:t>
              </a:r>
              <a:endParaRPr b="0" sz="1018">
                <a:solidFill>
                  <a:srgbClr val="00E5FF"/>
                </a:solidFill>
                <a:latin typeface="IBM Plex Mono Medium"/>
                <a:ea typeface="IBM Plex Mono Medium"/>
                <a:cs typeface="IBM Plex Mono Medium"/>
                <a:sym typeface="IBM Plex Mono Medium"/>
              </a:endParaRPr>
            </a:p>
            <a:p>
              <a:pPr indent="0" lvl="0" marL="0" rtl="0" algn="l">
                <a:spcBef>
                  <a:spcPts val="450"/>
                </a:spcBef>
                <a:spcAft>
                  <a:spcPts val="0"/>
                </a:spcAft>
                <a:buNone/>
              </a:pPr>
              <a:r>
                <a:rPr b="0" lang="en" sz="879">
                  <a:solidFill>
                    <a:srgbClr val="94A3B8"/>
                  </a:solidFill>
                  <a:latin typeface="IBM Plex Sans"/>
                  <a:ea typeface="IBM Plex Sans"/>
                  <a:cs typeface="IBM Plex Sans"/>
                  <a:sym typeface="IBM Plex Sans"/>
                </a:rPr>
                <a:t>The system automatically reconciles and extracts fragmented author and inventor identities directly from arXiv preprints and Google Patents database records to build verified technical profiles.</a:t>
              </a:r>
              <a:endParaRPr b="0" sz="879">
                <a:solidFill>
                  <a:srgbClr val="94A3B8"/>
                </a:solidFill>
                <a:latin typeface="IBM Plex Sans"/>
                <a:ea typeface="IBM Plex Sans"/>
                <a:cs typeface="IBM Plex Sans"/>
                <a:sym typeface="IBM Plex Sans"/>
              </a:endParaRPr>
            </a:p>
          </p:txBody>
        </p:sp>
      </p:grpSp>
      <p:grpSp>
        <p:nvGrpSpPr>
          <p:cNvPr id="199" name="Google Shape;199;p17"/>
          <p:cNvGrpSpPr/>
          <p:nvPr/>
        </p:nvGrpSpPr>
        <p:grpSpPr>
          <a:xfrm>
            <a:off x="476250" y="2428875"/>
            <a:ext cx="3048000" cy="1000200"/>
            <a:chOff x="0" y="0"/>
            <a:chExt cx="3048000" cy="1000200"/>
          </a:xfrm>
        </p:grpSpPr>
        <p:sp>
          <p:nvSpPr>
            <p:cNvPr id="200" name="Google Shape;200;p17"/>
            <p:cNvSpPr/>
            <p:nvPr/>
          </p:nvSpPr>
          <p:spPr>
            <a:xfrm>
              <a:off x="0" y="0"/>
              <a:ext cx="3048000" cy="1000200"/>
            </a:xfrm>
            <a:prstGeom prst="rect">
              <a:avLst/>
            </a:prstGeom>
            <a:solidFill>
              <a:srgbClr val="121A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17"/>
            <p:cNvSpPr/>
            <p:nvPr/>
          </p:nvSpPr>
          <p:spPr>
            <a:xfrm>
              <a:off x="0" y="0"/>
              <a:ext cx="28500" cy="10002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17"/>
            <p:cNvSpPr txBox="1"/>
            <p:nvPr/>
          </p:nvSpPr>
          <p:spPr>
            <a:xfrm>
              <a:off x="142875" y="114300"/>
              <a:ext cx="2762400" cy="771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18">
                  <a:solidFill>
                    <a:srgbClr val="00E5FF"/>
                  </a:solidFill>
                  <a:latin typeface="IBM Plex Mono Medium"/>
                  <a:ea typeface="IBM Plex Mono Medium"/>
                  <a:cs typeface="IBM Plex Mono Medium"/>
                  <a:sym typeface="IBM Plex Mono Medium"/>
                </a:rPr>
                <a:t>[ARXIV &amp; PATENT ANALYSIS]</a:t>
              </a:r>
              <a:endParaRPr b="0" sz="1018">
                <a:solidFill>
                  <a:srgbClr val="00E5FF"/>
                </a:solidFill>
                <a:latin typeface="IBM Plex Mono Medium"/>
                <a:ea typeface="IBM Plex Mono Medium"/>
                <a:cs typeface="IBM Plex Mono Medium"/>
                <a:sym typeface="IBM Plex Mono Medium"/>
              </a:endParaRPr>
            </a:p>
            <a:p>
              <a:pPr indent="0" lvl="0" marL="0" rtl="0" algn="l">
                <a:spcBef>
                  <a:spcPts val="450"/>
                </a:spcBef>
                <a:spcAft>
                  <a:spcPts val="0"/>
                </a:spcAft>
                <a:buNone/>
              </a:pPr>
              <a:r>
                <a:rPr b="0" lang="en" sz="879">
                  <a:solidFill>
                    <a:srgbClr val="94A3B8"/>
                  </a:solidFill>
                  <a:latin typeface="IBM Plex Sans"/>
                  <a:ea typeface="IBM Plex Sans"/>
                  <a:cs typeface="IBM Plex Sans"/>
                  <a:sym typeface="IBM Plex Sans"/>
                </a:rPr>
                <a:t>Unstructured academic preprints and patent publications are converted into an explorable network, mapping citation lines and shared disclosures between researchers and corporate entities.</a:t>
              </a:r>
              <a:endParaRPr b="0" sz="879">
                <a:solidFill>
                  <a:srgbClr val="94A3B8"/>
                </a:solidFill>
                <a:latin typeface="IBM Plex Sans"/>
                <a:ea typeface="IBM Plex Sans"/>
                <a:cs typeface="IBM Plex Sans"/>
                <a:sym typeface="IBM Plex Sans"/>
              </a:endParaRPr>
            </a:p>
          </p:txBody>
        </p:sp>
      </p:grpSp>
      <p:grpSp>
        <p:nvGrpSpPr>
          <p:cNvPr id="203" name="Google Shape;203;p17"/>
          <p:cNvGrpSpPr/>
          <p:nvPr/>
        </p:nvGrpSpPr>
        <p:grpSpPr>
          <a:xfrm>
            <a:off x="476250" y="3524250"/>
            <a:ext cx="3048000" cy="1000200"/>
            <a:chOff x="0" y="0"/>
            <a:chExt cx="3048000" cy="1000200"/>
          </a:xfrm>
        </p:grpSpPr>
        <p:sp>
          <p:nvSpPr>
            <p:cNvPr id="204" name="Google Shape;204;p17"/>
            <p:cNvSpPr/>
            <p:nvPr/>
          </p:nvSpPr>
          <p:spPr>
            <a:xfrm>
              <a:off x="0" y="0"/>
              <a:ext cx="3048000" cy="1000200"/>
            </a:xfrm>
            <a:prstGeom prst="rect">
              <a:avLst/>
            </a:prstGeom>
            <a:solidFill>
              <a:srgbClr val="121A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5" name="Google Shape;205;p17"/>
            <p:cNvSpPr/>
            <p:nvPr/>
          </p:nvSpPr>
          <p:spPr>
            <a:xfrm>
              <a:off x="0" y="0"/>
              <a:ext cx="28500" cy="10002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17"/>
            <p:cNvSpPr txBox="1"/>
            <p:nvPr/>
          </p:nvSpPr>
          <p:spPr>
            <a:xfrm>
              <a:off x="142875" y="114300"/>
              <a:ext cx="2762400" cy="7716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1018">
                  <a:solidFill>
                    <a:srgbClr val="00E5FF"/>
                  </a:solidFill>
                  <a:latin typeface="IBM Plex Mono Medium"/>
                  <a:ea typeface="IBM Plex Mono Medium"/>
                  <a:cs typeface="IBM Plex Mono Medium"/>
                  <a:sym typeface="IBM Plex Mono Medium"/>
                </a:rPr>
                <a:t>[CROSS-CITATION CORRELATION]</a:t>
              </a:r>
              <a:endParaRPr b="0" sz="1018">
                <a:solidFill>
                  <a:srgbClr val="00E5FF"/>
                </a:solidFill>
                <a:latin typeface="IBM Plex Mono Medium"/>
                <a:ea typeface="IBM Plex Mono Medium"/>
                <a:cs typeface="IBM Plex Mono Medium"/>
                <a:sym typeface="IBM Plex Mono Medium"/>
              </a:endParaRPr>
            </a:p>
            <a:p>
              <a:pPr indent="0" lvl="0" marL="0" rtl="0" algn="l">
                <a:spcBef>
                  <a:spcPts val="450"/>
                </a:spcBef>
                <a:spcAft>
                  <a:spcPts val="0"/>
                </a:spcAft>
                <a:buNone/>
              </a:pPr>
              <a:r>
                <a:rPr b="0" lang="en" sz="879">
                  <a:solidFill>
                    <a:srgbClr val="94A3B8"/>
                  </a:solidFill>
                  <a:latin typeface="IBM Plex Sans"/>
                  <a:ea typeface="IBM Plex Sans"/>
                  <a:cs typeface="IBM Plex Sans"/>
                  <a:sym typeface="IBM Plex Sans"/>
                </a:rPr>
                <a:t>Graph algorithms track co-citations and joint developments across arXiv preprints and Google Patents filings, identifying foundational intellectual IP chokepoints.</a:t>
              </a:r>
              <a:endParaRPr b="0" sz="879">
                <a:solidFill>
                  <a:srgbClr val="94A3B8"/>
                </a:solidFill>
                <a:latin typeface="IBM Plex Sans"/>
                <a:ea typeface="IBM Plex Sans"/>
                <a:cs typeface="IBM Plex Sans"/>
                <a:sym typeface="IBM Plex Sans"/>
              </a:endParaRPr>
            </a:p>
          </p:txBody>
        </p:sp>
      </p:grpSp>
      <p:grpSp>
        <p:nvGrpSpPr>
          <p:cNvPr id="207" name="Google Shape;207;p17"/>
          <p:cNvGrpSpPr/>
          <p:nvPr/>
        </p:nvGrpSpPr>
        <p:grpSpPr>
          <a:xfrm>
            <a:off x="3714750" y="1333500"/>
            <a:ext cx="4953000" cy="3190800"/>
            <a:chOff x="0" y="0"/>
            <a:chExt cx="4953000" cy="3190800"/>
          </a:xfrm>
        </p:grpSpPr>
        <p:sp>
          <p:nvSpPr>
            <p:cNvPr id="208" name="Google Shape;208;p17"/>
            <p:cNvSpPr/>
            <p:nvPr/>
          </p:nvSpPr>
          <p:spPr>
            <a:xfrm>
              <a:off x="0" y="0"/>
              <a:ext cx="4953000" cy="3190800"/>
            </a:xfrm>
            <a:prstGeom prst="rect">
              <a:avLst/>
            </a:prstGeom>
            <a:solidFill>
              <a:srgbClr val="121A26">
                <a:alpha val="2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09" name="Google Shape;209;p17"/>
            <p:cNvPicPr preferRelativeResize="0"/>
            <p:nvPr/>
          </p:nvPicPr>
          <p:blipFill rotWithShape="1">
            <a:blip r:embed="rId4">
              <a:alphaModFix/>
            </a:blip>
            <a:srcRect b="0" l="0" r="0" t="0"/>
            <a:stretch/>
          </p:blipFill>
          <p:spPr>
            <a:xfrm>
              <a:off x="1519238" y="566738"/>
              <a:ext cx="1914600" cy="1914600"/>
            </a:xfrm>
            <a:prstGeom prst="rect">
              <a:avLst/>
            </a:prstGeom>
            <a:noFill/>
            <a:ln>
              <a:noFill/>
            </a:ln>
          </p:spPr>
        </p:pic>
        <p:pic>
          <p:nvPicPr>
            <p:cNvPr id="210" name="Google Shape;210;p17"/>
            <p:cNvPicPr preferRelativeResize="0"/>
            <p:nvPr/>
          </p:nvPicPr>
          <p:blipFill rotWithShape="1">
            <a:blip r:embed="rId5">
              <a:alphaModFix/>
            </a:blip>
            <a:srcRect b="0" l="0" r="0" t="0"/>
            <a:stretch/>
          </p:blipFill>
          <p:spPr>
            <a:xfrm>
              <a:off x="2471738" y="381000"/>
              <a:ext cx="9600" cy="2247900"/>
            </a:xfrm>
            <a:prstGeom prst="rect">
              <a:avLst/>
            </a:prstGeom>
            <a:noFill/>
            <a:ln>
              <a:noFill/>
            </a:ln>
          </p:spPr>
        </p:pic>
        <p:pic>
          <p:nvPicPr>
            <p:cNvPr id="211" name="Google Shape;211;p17"/>
            <p:cNvPicPr preferRelativeResize="0"/>
            <p:nvPr/>
          </p:nvPicPr>
          <p:blipFill rotWithShape="1">
            <a:blip r:embed="rId6">
              <a:alphaModFix/>
            </a:blip>
            <a:srcRect b="0" l="0" r="0" t="0"/>
            <a:stretch/>
          </p:blipFill>
          <p:spPr>
            <a:xfrm>
              <a:off x="1333500" y="1519238"/>
              <a:ext cx="2247900" cy="9600"/>
            </a:xfrm>
            <a:prstGeom prst="rect">
              <a:avLst/>
            </a:prstGeom>
            <a:noFill/>
            <a:ln>
              <a:noFill/>
            </a:ln>
          </p:spPr>
        </p:pic>
        <p:sp>
          <p:nvSpPr>
            <p:cNvPr id="212" name="Google Shape;212;p17"/>
            <p:cNvSpPr txBox="1"/>
            <p:nvPr/>
          </p:nvSpPr>
          <p:spPr>
            <a:xfrm>
              <a:off x="142875" y="114300"/>
              <a:ext cx="2381400" cy="190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00E5FF"/>
                  </a:solidFill>
                  <a:latin typeface="IBM Plex Mono"/>
                  <a:ea typeface="IBM Plex Mono"/>
                  <a:cs typeface="IBM Plex Mono"/>
                  <a:sym typeface="IBM Plex Mono"/>
                </a:rPr>
                <a:t>LIVE GRAPH: ARXIV_PATENT_TRK</a:t>
              </a:r>
              <a:endParaRPr b="0" sz="750">
                <a:solidFill>
                  <a:srgbClr val="00E5FF"/>
                </a:solidFill>
                <a:latin typeface="IBM Plex Mono"/>
                <a:ea typeface="IBM Plex Mono"/>
                <a:cs typeface="IBM Plex Mono"/>
                <a:sym typeface="IBM Plex Mono"/>
              </a:endParaRPr>
            </a:p>
          </p:txBody>
        </p:sp>
        <p:pic>
          <p:nvPicPr>
            <p:cNvPr id="213" name="Google Shape;213;p17"/>
            <p:cNvPicPr preferRelativeResize="0"/>
            <p:nvPr/>
          </p:nvPicPr>
          <p:blipFill rotWithShape="1">
            <a:blip r:embed="rId7">
              <a:alphaModFix/>
            </a:blip>
            <a:srcRect b="0" l="0" r="0" t="0"/>
            <a:stretch/>
          </p:blipFill>
          <p:spPr>
            <a:xfrm>
              <a:off x="1423988" y="847725"/>
              <a:ext cx="1057200" cy="685800"/>
            </a:xfrm>
            <a:prstGeom prst="rect">
              <a:avLst/>
            </a:prstGeom>
            <a:noFill/>
            <a:ln>
              <a:noFill/>
            </a:ln>
          </p:spPr>
        </p:pic>
        <p:pic>
          <p:nvPicPr>
            <p:cNvPr id="214" name="Google Shape;214;p17"/>
            <p:cNvPicPr preferRelativeResize="0"/>
            <p:nvPr/>
          </p:nvPicPr>
          <p:blipFill rotWithShape="1">
            <a:blip r:embed="rId8">
              <a:alphaModFix/>
            </a:blip>
            <a:srcRect b="0" l="0" r="0" t="0"/>
            <a:stretch/>
          </p:blipFill>
          <p:spPr>
            <a:xfrm>
              <a:off x="2471738" y="847725"/>
              <a:ext cx="1057200" cy="685800"/>
            </a:xfrm>
            <a:prstGeom prst="rect">
              <a:avLst/>
            </a:prstGeom>
            <a:noFill/>
            <a:ln>
              <a:noFill/>
            </a:ln>
          </p:spPr>
        </p:pic>
        <p:cxnSp>
          <p:nvCxnSpPr>
            <p:cNvPr id="215" name="Google Shape;215;p17"/>
            <p:cNvCxnSpPr/>
            <p:nvPr/>
          </p:nvCxnSpPr>
          <p:spPr>
            <a:xfrm flipH="1">
              <a:off x="1714500" y="1524000"/>
              <a:ext cx="762000" cy="857400"/>
            </a:xfrm>
            <a:prstGeom prst="straightConnector1">
              <a:avLst/>
            </a:prstGeom>
            <a:solidFill>
              <a:srgbClr val="FFFFFF"/>
            </a:solidFill>
            <a:ln cap="flat" cmpd="sng" w="9525">
              <a:solidFill>
                <a:srgbClr val="005B66"/>
              </a:solidFill>
              <a:prstDash val="solid"/>
              <a:round/>
              <a:headEnd len="sm" w="sm" type="none"/>
              <a:tailEnd len="sm" w="sm" type="none"/>
            </a:ln>
          </p:spPr>
        </p:cxnSp>
        <p:cxnSp>
          <p:nvCxnSpPr>
            <p:cNvPr id="216" name="Google Shape;216;p17"/>
            <p:cNvCxnSpPr/>
            <p:nvPr/>
          </p:nvCxnSpPr>
          <p:spPr>
            <a:xfrm>
              <a:off x="2476500" y="1524000"/>
              <a:ext cx="762000" cy="857400"/>
            </a:xfrm>
            <a:prstGeom prst="straightConnector1">
              <a:avLst/>
            </a:prstGeom>
            <a:solidFill>
              <a:srgbClr val="FFFFFF"/>
            </a:solidFill>
            <a:ln cap="flat" cmpd="sng" w="9525">
              <a:solidFill>
                <a:srgbClr val="005B66"/>
              </a:solidFill>
              <a:prstDash val="solid"/>
              <a:round/>
              <a:headEnd len="sm" w="sm" type="none"/>
              <a:tailEnd len="sm" w="sm" type="none"/>
            </a:ln>
          </p:spPr>
        </p:cxnSp>
        <p:pic>
          <p:nvPicPr>
            <p:cNvPr id="217" name="Google Shape;217;p17"/>
            <p:cNvPicPr preferRelativeResize="0"/>
            <p:nvPr/>
          </p:nvPicPr>
          <p:blipFill rotWithShape="1">
            <a:blip r:embed="rId9">
              <a:alphaModFix/>
            </a:blip>
            <a:srcRect b="0" l="0" r="0" t="0"/>
            <a:stretch/>
          </p:blipFill>
          <p:spPr>
            <a:xfrm>
              <a:off x="762000" y="852488"/>
              <a:ext cx="671400" cy="671400"/>
            </a:xfrm>
            <a:prstGeom prst="rect">
              <a:avLst/>
            </a:prstGeom>
            <a:noFill/>
            <a:ln>
              <a:noFill/>
            </a:ln>
          </p:spPr>
        </p:pic>
        <p:cxnSp>
          <p:nvCxnSpPr>
            <p:cNvPr id="218" name="Google Shape;218;p17"/>
            <p:cNvCxnSpPr/>
            <p:nvPr/>
          </p:nvCxnSpPr>
          <p:spPr>
            <a:xfrm rot="10800000">
              <a:off x="762000" y="1523850"/>
              <a:ext cx="952500" cy="857400"/>
            </a:xfrm>
            <a:prstGeom prst="straightConnector1">
              <a:avLst/>
            </a:prstGeom>
            <a:solidFill>
              <a:srgbClr val="FFFFFF"/>
            </a:solidFill>
            <a:ln cap="flat" cmpd="sng" w="9525">
              <a:solidFill>
                <a:srgbClr val="005B66"/>
              </a:solidFill>
              <a:prstDash val="solid"/>
              <a:round/>
              <a:headEnd len="sm" w="sm" type="none"/>
              <a:tailEnd len="sm" w="sm" type="none"/>
            </a:ln>
          </p:spPr>
        </p:cxnSp>
        <p:pic>
          <p:nvPicPr>
            <p:cNvPr id="219" name="Google Shape;219;p17"/>
            <p:cNvPicPr preferRelativeResize="0"/>
            <p:nvPr/>
          </p:nvPicPr>
          <p:blipFill rotWithShape="1">
            <a:blip r:embed="rId10">
              <a:alphaModFix/>
            </a:blip>
            <a:srcRect b="0" l="0" r="0" t="0"/>
            <a:stretch/>
          </p:blipFill>
          <p:spPr>
            <a:xfrm>
              <a:off x="3519488" y="852488"/>
              <a:ext cx="676200" cy="676200"/>
            </a:xfrm>
            <a:prstGeom prst="rect">
              <a:avLst/>
            </a:prstGeom>
            <a:noFill/>
            <a:ln>
              <a:noFill/>
            </a:ln>
          </p:spPr>
        </p:pic>
        <p:cxnSp>
          <p:nvCxnSpPr>
            <p:cNvPr id="220" name="Google Shape;220;p17"/>
            <p:cNvCxnSpPr/>
            <p:nvPr/>
          </p:nvCxnSpPr>
          <p:spPr>
            <a:xfrm flipH="1" rot="10800000">
              <a:off x="3238500" y="1523850"/>
              <a:ext cx="952500" cy="857400"/>
            </a:xfrm>
            <a:prstGeom prst="straightConnector1">
              <a:avLst/>
            </a:prstGeom>
            <a:solidFill>
              <a:srgbClr val="FFFFFF"/>
            </a:solidFill>
            <a:ln cap="flat" cmpd="sng" w="9525">
              <a:solidFill>
                <a:srgbClr val="005B66"/>
              </a:solidFill>
              <a:prstDash val="solid"/>
              <a:round/>
              <a:headEnd len="sm" w="sm" type="none"/>
              <a:tailEnd len="sm" w="sm" type="none"/>
            </a:ln>
          </p:spPr>
        </p:cxnSp>
        <p:cxnSp>
          <p:nvCxnSpPr>
            <p:cNvPr id="221" name="Google Shape;221;p17"/>
            <p:cNvCxnSpPr/>
            <p:nvPr/>
          </p:nvCxnSpPr>
          <p:spPr>
            <a:xfrm flipH="1" rot="10800000">
              <a:off x="1428750" y="476250"/>
              <a:ext cx="1047900" cy="381000"/>
            </a:xfrm>
            <a:prstGeom prst="straightConnector1">
              <a:avLst/>
            </a:prstGeom>
            <a:solidFill>
              <a:srgbClr val="FFFFFF"/>
            </a:solidFill>
            <a:ln cap="flat" cmpd="sng" w="9525">
              <a:solidFill>
                <a:srgbClr val="005B66"/>
              </a:solidFill>
              <a:prstDash val="solid"/>
              <a:round/>
              <a:headEnd len="sm" w="sm" type="none"/>
              <a:tailEnd len="sm" w="sm" type="none"/>
            </a:ln>
          </p:spPr>
        </p:cxnSp>
        <p:cxnSp>
          <p:nvCxnSpPr>
            <p:cNvPr id="222" name="Google Shape;222;p17"/>
            <p:cNvCxnSpPr/>
            <p:nvPr/>
          </p:nvCxnSpPr>
          <p:spPr>
            <a:xfrm rot="10800000">
              <a:off x="2476350" y="476250"/>
              <a:ext cx="1047900" cy="381000"/>
            </a:xfrm>
            <a:prstGeom prst="straightConnector1">
              <a:avLst/>
            </a:prstGeom>
            <a:solidFill>
              <a:srgbClr val="FFFFFF"/>
            </a:solidFill>
            <a:ln cap="flat" cmpd="sng" w="9525">
              <a:solidFill>
                <a:srgbClr val="005B66"/>
              </a:solidFill>
              <a:prstDash val="solid"/>
              <a:round/>
              <a:headEnd len="sm" w="sm" type="none"/>
              <a:tailEnd len="sm" w="sm" type="none"/>
            </a:ln>
          </p:spPr>
        </p:cxnSp>
        <p:sp>
          <p:nvSpPr>
            <p:cNvPr id="223" name="Google Shape;223;p17"/>
            <p:cNvSpPr/>
            <p:nvPr/>
          </p:nvSpPr>
          <p:spPr>
            <a:xfrm>
              <a:off x="2324100" y="1371600"/>
              <a:ext cx="304800" cy="304800"/>
            </a:xfrm>
            <a:prstGeom prst="ellipse">
              <a:avLst/>
            </a:prstGeom>
            <a:solidFill>
              <a:srgbClr val="090D14"/>
            </a:solidFill>
            <a:ln cap="flat" cmpd="sng" w="1905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17"/>
            <p:cNvSpPr/>
            <p:nvPr/>
          </p:nvSpPr>
          <p:spPr>
            <a:xfrm>
              <a:off x="2419350" y="1466850"/>
              <a:ext cx="114300" cy="1143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25" name="Google Shape;225;p17"/>
            <p:cNvPicPr preferRelativeResize="0"/>
            <p:nvPr/>
          </p:nvPicPr>
          <p:blipFill rotWithShape="1">
            <a:blip r:embed="rId11">
              <a:alphaModFix/>
            </a:blip>
            <a:srcRect b="0" l="0" r="0" t="0"/>
            <a:stretch/>
          </p:blipFill>
          <p:spPr>
            <a:xfrm>
              <a:off x="2243138" y="1290638"/>
              <a:ext cx="466800" cy="466800"/>
            </a:xfrm>
            <a:prstGeom prst="rect">
              <a:avLst/>
            </a:prstGeom>
            <a:noFill/>
            <a:ln>
              <a:noFill/>
            </a:ln>
          </p:spPr>
        </p:pic>
        <p:sp>
          <p:nvSpPr>
            <p:cNvPr id="226" name="Google Shape;226;p17"/>
            <p:cNvSpPr/>
            <p:nvPr/>
          </p:nvSpPr>
          <p:spPr>
            <a:xfrm>
              <a:off x="1333500" y="762000"/>
              <a:ext cx="190500" cy="190500"/>
            </a:xfrm>
            <a:prstGeom prst="ellipse">
              <a:avLst/>
            </a:prstGeom>
            <a:solidFill>
              <a:srgbClr val="090D14"/>
            </a:solidFill>
            <a:ln cap="flat" cmpd="sng" w="1430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17"/>
            <p:cNvSpPr/>
            <p:nvPr/>
          </p:nvSpPr>
          <p:spPr>
            <a:xfrm>
              <a:off x="1390650" y="819150"/>
              <a:ext cx="76200" cy="762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17"/>
            <p:cNvSpPr/>
            <p:nvPr/>
          </p:nvSpPr>
          <p:spPr>
            <a:xfrm>
              <a:off x="3409950" y="742950"/>
              <a:ext cx="228600" cy="228600"/>
            </a:xfrm>
            <a:prstGeom prst="ellipse">
              <a:avLst/>
            </a:prstGeom>
            <a:solidFill>
              <a:srgbClr val="090D14"/>
            </a:solidFill>
            <a:ln cap="flat" cmpd="sng" w="19050">
              <a:solidFill>
                <a:srgbClr val="FFB3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17"/>
            <p:cNvSpPr/>
            <p:nvPr/>
          </p:nvSpPr>
          <p:spPr>
            <a:xfrm>
              <a:off x="3476625" y="809625"/>
              <a:ext cx="95400" cy="95400"/>
            </a:xfrm>
            <a:prstGeom prst="ellipse">
              <a:avLst/>
            </a:prstGeom>
            <a:solidFill>
              <a:srgbClr val="FFB3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30" name="Google Shape;230;p17"/>
            <p:cNvPicPr preferRelativeResize="0"/>
            <p:nvPr/>
          </p:nvPicPr>
          <p:blipFill rotWithShape="1">
            <a:blip r:embed="rId12">
              <a:alphaModFix/>
            </a:blip>
            <a:srcRect b="0" l="0" r="0" t="0"/>
            <a:stretch/>
          </p:blipFill>
          <p:spPr>
            <a:xfrm>
              <a:off x="3348038" y="681038"/>
              <a:ext cx="352500" cy="352500"/>
            </a:xfrm>
            <a:prstGeom prst="rect">
              <a:avLst/>
            </a:prstGeom>
            <a:noFill/>
            <a:ln>
              <a:noFill/>
            </a:ln>
          </p:spPr>
        </p:pic>
        <p:sp>
          <p:nvSpPr>
            <p:cNvPr id="231" name="Google Shape;231;p17"/>
            <p:cNvSpPr/>
            <p:nvPr/>
          </p:nvSpPr>
          <p:spPr>
            <a:xfrm>
              <a:off x="1619250" y="2286000"/>
              <a:ext cx="190500" cy="190500"/>
            </a:xfrm>
            <a:prstGeom prst="ellipse">
              <a:avLst/>
            </a:prstGeom>
            <a:solidFill>
              <a:srgbClr val="090D14"/>
            </a:solidFill>
            <a:ln cap="flat" cmpd="sng" w="1430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17"/>
            <p:cNvSpPr/>
            <p:nvPr/>
          </p:nvSpPr>
          <p:spPr>
            <a:xfrm>
              <a:off x="1676400" y="2343150"/>
              <a:ext cx="76200" cy="762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3" name="Google Shape;233;p17"/>
            <p:cNvSpPr/>
            <p:nvPr/>
          </p:nvSpPr>
          <p:spPr>
            <a:xfrm>
              <a:off x="3143250" y="2286000"/>
              <a:ext cx="190500" cy="190500"/>
            </a:xfrm>
            <a:prstGeom prst="ellipse">
              <a:avLst/>
            </a:prstGeom>
            <a:solidFill>
              <a:srgbClr val="090D14"/>
            </a:solidFill>
            <a:ln cap="flat" cmpd="sng" w="1430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4" name="Google Shape;234;p17"/>
            <p:cNvSpPr/>
            <p:nvPr/>
          </p:nvSpPr>
          <p:spPr>
            <a:xfrm>
              <a:off x="3200400" y="2343150"/>
              <a:ext cx="76200" cy="762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17"/>
            <p:cNvSpPr/>
            <p:nvPr/>
          </p:nvSpPr>
          <p:spPr>
            <a:xfrm>
              <a:off x="704850" y="1466850"/>
              <a:ext cx="114300" cy="114300"/>
            </a:xfrm>
            <a:prstGeom prst="ellipse">
              <a:avLst/>
            </a:prstGeom>
            <a:solidFill>
              <a:srgbClr val="090D14"/>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17"/>
            <p:cNvSpPr/>
            <p:nvPr/>
          </p:nvSpPr>
          <p:spPr>
            <a:xfrm>
              <a:off x="4133850" y="1466850"/>
              <a:ext cx="114300" cy="114300"/>
            </a:xfrm>
            <a:prstGeom prst="ellipse">
              <a:avLst/>
            </a:prstGeom>
            <a:solidFill>
              <a:srgbClr val="090D14"/>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7" name="Google Shape;237;p17"/>
            <p:cNvSpPr/>
            <p:nvPr/>
          </p:nvSpPr>
          <p:spPr>
            <a:xfrm>
              <a:off x="2419350" y="419100"/>
              <a:ext cx="114300" cy="114300"/>
            </a:xfrm>
            <a:prstGeom prst="ellipse">
              <a:avLst/>
            </a:prstGeom>
            <a:solidFill>
              <a:srgbClr val="090D14"/>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17"/>
            <p:cNvSpPr txBox="1"/>
            <p:nvPr/>
          </p:nvSpPr>
          <p:spPr>
            <a:xfrm>
              <a:off x="1714500" y="1790700"/>
              <a:ext cx="1524000" cy="2382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750">
                  <a:solidFill>
                    <a:srgbClr val="00E5FF"/>
                  </a:solidFill>
                  <a:latin typeface="IBM Plex Mono SemiBold"/>
                  <a:ea typeface="IBM Plex Mono SemiBold"/>
                  <a:cs typeface="IBM Plex Mono SemiBold"/>
                  <a:sym typeface="IBM Plex Mono SemiBold"/>
                </a:rPr>
                <a:t>[CENTRAL DEV NODE]</a:t>
              </a:r>
              <a:endParaRPr b="0" sz="750">
                <a:solidFill>
                  <a:srgbClr val="00E5FF"/>
                </a:solidFill>
                <a:latin typeface="IBM Plex Mono SemiBold"/>
                <a:ea typeface="IBM Plex Mono SemiBold"/>
                <a:cs typeface="IBM Plex Mono SemiBold"/>
                <a:sym typeface="IBM Plex Mono SemiBold"/>
              </a:endParaRPr>
            </a:p>
          </p:txBody>
        </p:sp>
        <p:sp>
          <p:nvSpPr>
            <p:cNvPr id="239" name="Google Shape;239;p17"/>
            <p:cNvSpPr txBox="1"/>
            <p:nvPr/>
          </p:nvSpPr>
          <p:spPr>
            <a:xfrm>
              <a:off x="714375" y="619125"/>
              <a:ext cx="1428900" cy="190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750">
                  <a:solidFill>
                    <a:srgbClr val="475569"/>
                  </a:solidFill>
                  <a:latin typeface="IBM Plex Mono"/>
                  <a:ea typeface="IBM Plex Mono"/>
                  <a:cs typeface="IBM Plex Mono"/>
                  <a:sym typeface="IBM Plex Mono"/>
                </a:rPr>
                <a:t>[RESEARCHER_MATCH]</a:t>
              </a:r>
              <a:endParaRPr b="0" sz="750">
                <a:solidFill>
                  <a:srgbClr val="475569"/>
                </a:solidFill>
                <a:latin typeface="IBM Plex Mono"/>
                <a:ea typeface="IBM Plex Mono"/>
                <a:cs typeface="IBM Plex Mono"/>
                <a:sym typeface="IBM Plex Mono"/>
              </a:endParaRPr>
            </a:p>
          </p:txBody>
        </p:sp>
        <p:sp>
          <p:nvSpPr>
            <p:cNvPr id="240" name="Google Shape;240;p17"/>
            <p:cNvSpPr txBox="1"/>
            <p:nvPr/>
          </p:nvSpPr>
          <p:spPr>
            <a:xfrm>
              <a:off x="2857500" y="619125"/>
              <a:ext cx="1428900" cy="190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lang="en" sz="750">
                  <a:solidFill>
                    <a:srgbClr val="FFB347"/>
                  </a:solidFill>
                  <a:latin typeface="IBM Plex Mono"/>
                  <a:ea typeface="IBM Plex Mono"/>
                  <a:cs typeface="IBM Plex Mono"/>
                  <a:sym typeface="IBM Plex Mono"/>
                </a:rPr>
                <a:t>[PATENT_DISCLOSURE]</a:t>
              </a:r>
              <a:endParaRPr b="0" sz="750">
                <a:solidFill>
                  <a:srgbClr val="FFB347"/>
                </a:solidFill>
                <a:latin typeface="IBM Plex Mono"/>
                <a:ea typeface="IBM Plex Mono"/>
                <a:cs typeface="IBM Plex Mono"/>
                <a:sym typeface="IBM Plex Mono"/>
              </a:endParaRPr>
            </a:p>
          </p:txBody>
        </p:sp>
        <p:sp>
          <p:nvSpPr>
            <p:cNvPr id="241" name="Google Shape;241;p17"/>
            <p:cNvSpPr txBox="1"/>
            <p:nvPr/>
          </p:nvSpPr>
          <p:spPr>
            <a:xfrm>
              <a:off x="1000125" y="2524125"/>
              <a:ext cx="1428900" cy="190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lang="en" sz="750">
                  <a:solidFill>
                    <a:srgbClr val="475569"/>
                  </a:solidFill>
                  <a:latin typeface="IBM Plex Mono"/>
                  <a:ea typeface="IBM Plex Mono"/>
                  <a:cs typeface="IBM Plex Mono"/>
                  <a:sym typeface="IBM Plex Mono"/>
                </a:rPr>
                <a:t>[ARXIV_PREPRINT]</a:t>
              </a:r>
              <a:endParaRPr b="0" sz="750">
                <a:solidFill>
                  <a:srgbClr val="475569"/>
                </a:solidFill>
                <a:latin typeface="IBM Plex Mono"/>
                <a:ea typeface="IBM Plex Mono"/>
                <a:cs typeface="IBM Plex Mono"/>
                <a:sym typeface="IBM Plex Mono"/>
              </a:endParaRPr>
            </a:p>
          </p:txBody>
        </p:sp>
        <p:sp>
          <p:nvSpPr>
            <p:cNvPr id="242" name="Google Shape;242;p17"/>
            <p:cNvSpPr txBox="1"/>
            <p:nvPr/>
          </p:nvSpPr>
          <p:spPr>
            <a:xfrm>
              <a:off x="2524125" y="2524125"/>
              <a:ext cx="1428900" cy="190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b="0" lang="en" sz="750">
                  <a:solidFill>
                    <a:srgbClr val="475569"/>
                  </a:solidFill>
                  <a:latin typeface="IBM Plex Mono"/>
                  <a:ea typeface="IBM Plex Mono"/>
                  <a:cs typeface="IBM Plex Mono"/>
                  <a:sym typeface="IBM Plex Mono"/>
                </a:rPr>
                <a:t>[GOOGLE_PATENTS]</a:t>
              </a:r>
              <a:endParaRPr b="0" sz="750">
                <a:solidFill>
                  <a:srgbClr val="475569"/>
                </a:solidFill>
                <a:latin typeface="IBM Plex Mono"/>
                <a:ea typeface="IBM Plex Mono"/>
                <a:cs typeface="IBM Plex Mono"/>
                <a:sym typeface="IBM Plex Mono"/>
              </a:endParaRPr>
            </a:p>
          </p:txBody>
        </p:sp>
        <p:grpSp>
          <p:nvGrpSpPr>
            <p:cNvPr id="243" name="Google Shape;243;p17"/>
            <p:cNvGrpSpPr/>
            <p:nvPr/>
          </p:nvGrpSpPr>
          <p:grpSpPr>
            <a:xfrm>
              <a:off x="138113" y="2757488"/>
              <a:ext cx="1152600" cy="295200"/>
              <a:chOff x="-4762" y="-4762"/>
              <a:chExt cx="1152600" cy="295200"/>
            </a:xfrm>
          </p:grpSpPr>
          <p:pic>
            <p:nvPicPr>
              <p:cNvPr id="244" name="Google Shape;244;p17"/>
              <p:cNvPicPr preferRelativeResize="0"/>
              <p:nvPr/>
            </p:nvPicPr>
            <p:blipFill rotWithShape="1">
              <a:blip r:embed="rId13">
                <a:alphaModFix/>
              </a:blip>
              <a:srcRect b="0" l="0" r="0" t="0"/>
              <a:stretch/>
            </p:blipFill>
            <p:spPr>
              <a:xfrm>
                <a:off x="-4762" y="-4762"/>
                <a:ext cx="1152600" cy="295200"/>
              </a:xfrm>
              <a:prstGeom prst="rect">
                <a:avLst/>
              </a:prstGeom>
              <a:noFill/>
              <a:ln>
                <a:noFill/>
              </a:ln>
            </p:spPr>
          </p:pic>
          <p:sp>
            <p:nvSpPr>
              <p:cNvPr id="245" name="Google Shape;245;p17"/>
              <p:cNvSpPr txBox="1"/>
              <p:nvPr/>
            </p:nvSpPr>
            <p:spPr>
              <a:xfrm>
                <a:off x="47625" y="47625"/>
                <a:ext cx="10479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601">
                    <a:solidFill>
                      <a:srgbClr val="00E5FF"/>
                    </a:solidFill>
                    <a:latin typeface="IBM Plex Mono"/>
                    <a:ea typeface="IBM Plex Mono"/>
                    <a:cs typeface="IBM Plex Mono"/>
                    <a:sym typeface="IBM Plex Mono"/>
                  </a:rPr>
                  <a:t>ALGORITHM: PAGE_RANK</a:t>
                </a:r>
                <a:endParaRPr b="0" sz="601">
                  <a:solidFill>
                    <a:srgbClr val="00E5FF"/>
                  </a:solidFill>
                  <a:latin typeface="IBM Plex Mono"/>
                  <a:ea typeface="IBM Plex Mono"/>
                  <a:cs typeface="IBM Plex Mono"/>
                  <a:sym typeface="IBM Plex Mono"/>
                </a:endParaRPr>
              </a:p>
              <a:p>
                <a:pPr indent="0" lvl="0" marL="0" rtl="0" algn="l">
                  <a:spcBef>
                    <a:spcPts val="0"/>
                  </a:spcBef>
                  <a:spcAft>
                    <a:spcPts val="0"/>
                  </a:spcAft>
                  <a:buNone/>
                </a:pPr>
                <a:r>
                  <a:rPr b="0" lang="en" sz="601">
                    <a:solidFill>
                      <a:srgbClr val="475569"/>
                    </a:solidFill>
                    <a:latin typeface="IBM Plex Mono"/>
                    <a:ea typeface="IBM Plex Mono"/>
                    <a:cs typeface="IBM Plex Mono"/>
                    <a:sym typeface="IBM Plex Mono"/>
                  </a:rPr>
                  <a:t>ITERATIONS: 1,024</a:t>
                </a:r>
                <a:endParaRPr b="0" sz="601">
                  <a:solidFill>
                    <a:srgbClr val="475569"/>
                  </a:solidFill>
                  <a:latin typeface="IBM Plex Mono"/>
                  <a:ea typeface="IBM Plex Mono"/>
                  <a:cs typeface="IBM Plex Mono"/>
                  <a:sym typeface="IBM Plex Mono"/>
                </a:endParaRPr>
              </a:p>
            </p:txBody>
          </p:sp>
        </p:grpSp>
        <p:grpSp>
          <p:nvGrpSpPr>
            <p:cNvPr id="246" name="Google Shape;246;p17"/>
            <p:cNvGrpSpPr/>
            <p:nvPr/>
          </p:nvGrpSpPr>
          <p:grpSpPr>
            <a:xfrm>
              <a:off x="3438525" y="2781300"/>
              <a:ext cx="1371750" cy="228600"/>
              <a:chOff x="57150" y="19050"/>
              <a:chExt cx="1371750" cy="228600"/>
            </a:xfrm>
          </p:grpSpPr>
          <p:sp>
            <p:nvSpPr>
              <p:cNvPr id="247" name="Google Shape;247;p17"/>
              <p:cNvSpPr/>
              <p:nvPr/>
            </p:nvSpPr>
            <p:spPr>
              <a:xfrm>
                <a:off x="57150" y="38100"/>
                <a:ext cx="76200" cy="762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8" name="Google Shape;248;p17"/>
              <p:cNvSpPr txBox="1"/>
              <p:nvPr/>
            </p:nvSpPr>
            <p:spPr>
              <a:xfrm>
                <a:off x="190500" y="19050"/>
                <a:ext cx="1238400" cy="1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650">
                    <a:solidFill>
                      <a:srgbClr val="475569"/>
                    </a:solidFill>
                    <a:latin typeface="IBM Plex Mono"/>
                    <a:ea typeface="IBM Plex Mono"/>
                    <a:cs typeface="IBM Plex Mono"/>
                    <a:sym typeface="IBM Plex Mono"/>
                  </a:rPr>
                  <a:t>VERIFIED PROFILE</a:t>
                </a:r>
                <a:endParaRPr b="0" sz="650">
                  <a:solidFill>
                    <a:srgbClr val="475569"/>
                  </a:solidFill>
                  <a:latin typeface="IBM Plex Mono"/>
                  <a:ea typeface="IBM Plex Mono"/>
                  <a:cs typeface="IBM Plex Mono"/>
                  <a:sym typeface="IBM Plex Mono"/>
                </a:endParaRPr>
              </a:p>
            </p:txBody>
          </p:sp>
          <p:sp>
            <p:nvSpPr>
              <p:cNvPr id="249" name="Google Shape;249;p17"/>
              <p:cNvSpPr/>
              <p:nvPr/>
            </p:nvSpPr>
            <p:spPr>
              <a:xfrm>
                <a:off x="57150" y="152400"/>
                <a:ext cx="76200" cy="76200"/>
              </a:xfrm>
              <a:prstGeom prst="ellipse">
                <a:avLst/>
              </a:prstGeom>
              <a:solidFill>
                <a:srgbClr val="FFB3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17"/>
              <p:cNvSpPr txBox="1"/>
              <p:nvPr/>
            </p:nvSpPr>
            <p:spPr>
              <a:xfrm>
                <a:off x="190500" y="133350"/>
                <a:ext cx="1238400" cy="1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650">
                    <a:solidFill>
                      <a:srgbClr val="FFB347"/>
                    </a:solidFill>
                    <a:latin typeface="IBM Plex Mono"/>
                    <a:ea typeface="IBM Plex Mono"/>
                    <a:cs typeface="IBM Plex Mono"/>
                    <a:sym typeface="IBM Plex Mono"/>
                  </a:rPr>
                  <a:t>CRITICAL CHOKEPOINT</a:t>
                </a:r>
                <a:endParaRPr b="0" sz="650">
                  <a:solidFill>
                    <a:srgbClr val="FFB347"/>
                  </a:solidFill>
                  <a:latin typeface="IBM Plex Mono"/>
                  <a:ea typeface="IBM Plex Mono"/>
                  <a:cs typeface="IBM Plex Mono"/>
                  <a:sym typeface="IBM Plex Mono"/>
                </a:endParaRPr>
              </a:p>
            </p:txBody>
          </p:sp>
        </p:grpSp>
      </p:grpSp>
      <p:pic>
        <p:nvPicPr>
          <p:cNvPr id="251" name="Google Shape;251;p17"/>
          <p:cNvPicPr preferRelativeResize="0"/>
          <p:nvPr/>
        </p:nvPicPr>
        <p:blipFill>
          <a:blip r:embed="rId14">
            <a:alphaModFix/>
          </a:blip>
          <a:stretch>
            <a:fillRect/>
          </a:stretch>
        </p:blipFill>
        <p:spPr>
          <a:xfrm>
            <a:off x="3714750" y="1333500"/>
            <a:ext cx="4952999" cy="31907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grpSp>
        <p:nvGrpSpPr>
          <p:cNvPr id="256" name="Google Shape;256;p18"/>
          <p:cNvGrpSpPr/>
          <p:nvPr/>
        </p:nvGrpSpPr>
        <p:grpSpPr>
          <a:xfrm>
            <a:off x="0" y="0"/>
            <a:ext cx="9144000" cy="5143500"/>
            <a:chOff x="0" y="0"/>
            <a:chExt cx="9144000" cy="5143500"/>
          </a:xfrm>
        </p:grpSpPr>
        <p:sp>
          <p:nvSpPr>
            <p:cNvPr id="257" name="Google Shape;257;p18"/>
            <p:cNvSpPr/>
            <p:nvPr/>
          </p:nvSpPr>
          <p:spPr>
            <a:xfrm>
              <a:off x="0" y="0"/>
              <a:ext cx="9144000" cy="5143500"/>
            </a:xfrm>
            <a:prstGeom prst="rect">
              <a:avLst/>
            </a:prstGeom>
            <a:solidFill>
              <a:srgbClr val="090D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58" name="Google Shape;258;p18"/>
            <p:cNvPicPr preferRelativeResize="0"/>
            <p:nvPr/>
          </p:nvPicPr>
          <p:blipFill rotWithShape="1">
            <a:blip r:embed="rId3">
              <a:alphaModFix/>
            </a:blip>
            <a:srcRect b="0" l="0" r="0" t="0"/>
            <a:stretch/>
          </p:blipFill>
          <p:spPr>
            <a:xfrm>
              <a:off x="0" y="0"/>
              <a:ext cx="9144000" cy="5143500"/>
            </a:xfrm>
            <a:prstGeom prst="rect">
              <a:avLst/>
            </a:prstGeom>
            <a:noFill/>
            <a:ln>
              <a:noFill/>
            </a:ln>
          </p:spPr>
        </p:pic>
        <p:sp>
          <p:nvSpPr>
            <p:cNvPr id="259" name="Google Shape;259;p18"/>
            <p:cNvSpPr/>
            <p:nvPr/>
          </p:nvSpPr>
          <p:spPr>
            <a:xfrm>
              <a:off x="190500" y="190500"/>
              <a:ext cx="381000" cy="4762500"/>
            </a:xfrm>
            <a:prstGeom prst="rect">
              <a:avLst/>
            </a:prstGeom>
            <a:solidFill>
              <a:srgbClr val="000000">
                <a:alpha val="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18"/>
            <p:cNvSpPr/>
            <p:nvPr/>
          </p:nvSpPr>
          <p:spPr>
            <a:xfrm>
              <a:off x="190500" y="190500"/>
              <a:ext cx="381000" cy="285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1" name="Google Shape;261;p18"/>
            <p:cNvSpPr/>
            <p:nvPr/>
          </p:nvSpPr>
          <p:spPr>
            <a:xfrm>
              <a:off x="342900" y="438150"/>
              <a:ext cx="76200" cy="76200"/>
            </a:xfrm>
            <a:prstGeom prst="ellipse">
              <a:avLst/>
            </a:prstGeom>
            <a:solidFill>
              <a:srgbClr val="000000">
                <a:alpha val="0"/>
              </a:srgbClr>
            </a:solidFill>
            <a:ln cap="flat" cmpd="sng" w="1430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p18"/>
            <p:cNvSpPr/>
            <p:nvPr/>
          </p:nvSpPr>
          <p:spPr>
            <a:xfrm>
              <a:off x="342900" y="723900"/>
              <a:ext cx="76200" cy="76200"/>
            </a:xfrm>
            <a:prstGeom prst="ellipse">
              <a:avLst/>
            </a:pr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18"/>
            <p:cNvSpPr/>
            <p:nvPr/>
          </p:nvSpPr>
          <p:spPr>
            <a:xfrm>
              <a:off x="342900" y="1009650"/>
              <a:ext cx="76200" cy="76200"/>
            </a:xfrm>
            <a:prstGeom prst="ellipse">
              <a:avLst/>
            </a:pr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64" name="Google Shape;264;p18"/>
            <p:cNvGrpSpPr/>
            <p:nvPr/>
          </p:nvGrpSpPr>
          <p:grpSpPr>
            <a:xfrm>
              <a:off x="762000" y="209550"/>
              <a:ext cx="2952750" cy="142800"/>
              <a:chOff x="0" y="0"/>
              <a:chExt cx="2952750" cy="142800"/>
            </a:xfrm>
          </p:grpSpPr>
          <p:sp>
            <p:nvSpPr>
              <p:cNvPr id="265" name="Google Shape;265;p18"/>
              <p:cNvSpPr/>
              <p:nvPr/>
            </p:nvSpPr>
            <p:spPr>
              <a:xfrm>
                <a:off x="0" y="0"/>
                <a:ext cx="28500" cy="1143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6" name="Google Shape;266;p18"/>
              <p:cNvSpPr txBox="1"/>
              <p:nvPr/>
            </p:nvSpPr>
            <p:spPr>
              <a:xfrm>
                <a:off x="95250" y="0"/>
                <a:ext cx="2857500" cy="14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475569"/>
                    </a:solidFill>
                    <a:latin typeface="IBM Plex Mono"/>
                    <a:ea typeface="IBM Plex Mono"/>
                    <a:cs typeface="IBM Plex Mono"/>
                    <a:sym typeface="IBM Plex Mono"/>
                  </a:rPr>
                  <a:t>SYS.OP // NODE-LINK ACTIVE // TRK-99</a:t>
                </a:r>
                <a:endParaRPr b="0" sz="750">
                  <a:solidFill>
                    <a:srgbClr val="475569"/>
                  </a:solidFill>
                  <a:latin typeface="IBM Plex Mono"/>
                  <a:ea typeface="IBM Plex Mono"/>
                  <a:cs typeface="IBM Plex Mono"/>
                  <a:sym typeface="IBM Plex Mono"/>
                </a:endParaRPr>
              </a:p>
            </p:txBody>
          </p:sp>
        </p:grpSp>
        <p:sp>
          <p:nvSpPr>
            <p:cNvPr id="267" name="Google Shape;267;p18"/>
            <p:cNvSpPr txBox="1"/>
            <p:nvPr/>
          </p:nvSpPr>
          <p:spPr>
            <a:xfrm>
              <a:off x="762000" y="400050"/>
              <a:ext cx="8191500" cy="333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11">
                  <a:solidFill>
                    <a:srgbClr val="E2E8F0"/>
                  </a:solidFill>
                  <a:latin typeface="IBM Plex Sans"/>
                  <a:ea typeface="IBM Plex Sans"/>
                  <a:cs typeface="IBM Plex Sans"/>
                  <a:sym typeface="IBM Plex Sans"/>
                </a:rPr>
                <a:t>PRECISION INTELLIGENCE ENABLES TARGETED INTERVENTIONS TO DISRUPT HYPERSONIC DEVELOPMENT</a:t>
              </a:r>
              <a:endParaRPr b="1" sz="1211">
                <a:solidFill>
                  <a:srgbClr val="E2E8F0"/>
                </a:solidFill>
                <a:latin typeface="IBM Plex Sans"/>
                <a:ea typeface="IBM Plex Sans"/>
                <a:cs typeface="IBM Plex Sans"/>
                <a:sym typeface="IBM Plex Sans"/>
              </a:endParaRPr>
            </a:p>
          </p:txBody>
        </p:sp>
        <p:cxnSp>
          <p:nvCxnSpPr>
            <p:cNvPr id="268" name="Google Shape;268;p18"/>
            <p:cNvCxnSpPr/>
            <p:nvPr/>
          </p:nvCxnSpPr>
          <p:spPr>
            <a:xfrm>
              <a:off x="762000" y="762000"/>
              <a:ext cx="8191500" cy="0"/>
            </a:xfrm>
            <a:prstGeom prst="straightConnector1">
              <a:avLst/>
            </a:prstGeom>
            <a:solidFill>
              <a:srgbClr val="FFFFFF"/>
            </a:solidFill>
            <a:ln cap="flat" cmpd="sng" w="9525">
              <a:solidFill>
                <a:srgbClr val="1E293B"/>
              </a:solidFill>
              <a:prstDash val="solid"/>
              <a:round/>
              <a:headEnd len="sm" w="sm" type="none"/>
              <a:tailEnd len="sm" w="sm" type="none"/>
            </a:ln>
          </p:spPr>
        </p:cxnSp>
        <p:grpSp>
          <p:nvGrpSpPr>
            <p:cNvPr id="269" name="Google Shape;269;p18"/>
            <p:cNvGrpSpPr/>
            <p:nvPr/>
          </p:nvGrpSpPr>
          <p:grpSpPr>
            <a:xfrm>
              <a:off x="190500" y="190500"/>
              <a:ext cx="8763000" cy="4762500"/>
              <a:chOff x="190500" y="190500"/>
              <a:chExt cx="8763000" cy="4762500"/>
            </a:xfrm>
          </p:grpSpPr>
          <p:sp>
            <p:nvSpPr>
              <p:cNvPr id="270" name="Google Shape;270;p18"/>
              <p:cNvSpPr/>
              <p:nvPr/>
            </p:nvSpPr>
            <p:spPr>
              <a:xfrm>
                <a:off x="190500" y="190500"/>
                <a:ext cx="190500" cy="190500"/>
              </a:xfrm>
              <a:custGeom>
                <a:rect b="b" l="l" r="r" t="t"/>
                <a:pathLst>
                  <a:path extrusionOk="0" h="120000" w="120000">
                    <a:moveTo>
                      <a:pt x="0" y="120000"/>
                    </a:moveTo>
                    <a:lnTo>
                      <a:pt x="0" y="0"/>
                    </a:lnTo>
                    <a:lnTo>
                      <a:pt x="120000" y="0"/>
                    </a:lnTo>
                  </a:path>
                </a:pathLst>
              </a:custGeom>
              <a:solidFill>
                <a:srgbClr val="000000">
                  <a:alpha val="0"/>
                </a:srgbClr>
              </a:solidFill>
              <a:ln cap="flat" cmpd="sng" w="9525">
                <a:solidFill>
                  <a:srgbClr val="005B66">
                    <a:alpha val="50000"/>
                  </a:srgbClr>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p18"/>
              <p:cNvSpPr/>
              <p:nvPr/>
            </p:nvSpPr>
            <p:spPr>
              <a:xfrm>
                <a:off x="8763000" y="190500"/>
                <a:ext cx="190500" cy="190500"/>
              </a:xfrm>
              <a:custGeom>
                <a:rect b="b" l="l" r="r" t="t"/>
                <a:pathLst>
                  <a:path extrusionOk="0" h="120000" w="120000">
                    <a:moveTo>
                      <a:pt x="120000" y="120000"/>
                    </a:moveTo>
                    <a:lnTo>
                      <a:pt x="120000" y="0"/>
                    </a:lnTo>
                    <a:lnTo>
                      <a:pt x="0" y="0"/>
                    </a:lnTo>
                  </a:path>
                </a:pathLst>
              </a:custGeom>
              <a:solidFill>
                <a:srgbClr val="000000">
                  <a:alpha val="0"/>
                </a:srgbClr>
              </a:solidFill>
              <a:ln cap="flat" cmpd="sng" w="9525">
                <a:solidFill>
                  <a:srgbClr val="005B66">
                    <a:alpha val="50000"/>
                  </a:srgbClr>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18"/>
              <p:cNvSpPr/>
              <p:nvPr/>
            </p:nvSpPr>
            <p:spPr>
              <a:xfrm>
                <a:off x="190500" y="4762500"/>
                <a:ext cx="190500" cy="190500"/>
              </a:xfrm>
              <a:custGeom>
                <a:rect b="b" l="l" r="r" t="t"/>
                <a:pathLst>
                  <a:path extrusionOk="0" h="120000" w="120000">
                    <a:moveTo>
                      <a:pt x="0" y="0"/>
                    </a:moveTo>
                    <a:lnTo>
                      <a:pt x="0" y="120000"/>
                    </a:lnTo>
                    <a:lnTo>
                      <a:pt x="120000" y="120000"/>
                    </a:lnTo>
                  </a:path>
                </a:pathLst>
              </a:custGeom>
              <a:solidFill>
                <a:srgbClr val="000000">
                  <a:alpha val="0"/>
                </a:srgbClr>
              </a:solidFill>
              <a:ln cap="flat" cmpd="sng" w="9525">
                <a:solidFill>
                  <a:srgbClr val="005B66">
                    <a:alpha val="50000"/>
                  </a:srgbClr>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18"/>
              <p:cNvSpPr/>
              <p:nvPr/>
            </p:nvSpPr>
            <p:spPr>
              <a:xfrm>
                <a:off x="8763000" y="4762500"/>
                <a:ext cx="190500" cy="190500"/>
              </a:xfrm>
              <a:custGeom>
                <a:rect b="b" l="l" r="r" t="t"/>
                <a:pathLst>
                  <a:path extrusionOk="0" h="120000" w="120000">
                    <a:moveTo>
                      <a:pt x="120000" y="0"/>
                    </a:moveTo>
                    <a:lnTo>
                      <a:pt x="120000" y="120000"/>
                    </a:lnTo>
                    <a:lnTo>
                      <a:pt x="0" y="120000"/>
                    </a:lnTo>
                  </a:path>
                </a:pathLst>
              </a:custGeom>
              <a:solidFill>
                <a:srgbClr val="000000">
                  <a:alpha val="0"/>
                </a:srgbClr>
              </a:solidFill>
              <a:ln cap="flat" cmpd="sng" w="9525">
                <a:solidFill>
                  <a:srgbClr val="005B66">
                    <a:alpha val="50000"/>
                  </a:srgbClr>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grpSp>
        <p:nvGrpSpPr>
          <p:cNvPr id="274" name="Google Shape;274;p18"/>
          <p:cNvGrpSpPr/>
          <p:nvPr/>
        </p:nvGrpSpPr>
        <p:grpSpPr>
          <a:xfrm>
            <a:off x="762000" y="952500"/>
            <a:ext cx="3810000" cy="3809925"/>
            <a:chOff x="762000" y="952500"/>
            <a:chExt cx="3810000" cy="3809925"/>
          </a:xfrm>
        </p:grpSpPr>
        <p:sp>
          <p:nvSpPr>
            <p:cNvPr id="275" name="Google Shape;275;p18"/>
            <p:cNvSpPr/>
            <p:nvPr/>
          </p:nvSpPr>
          <p:spPr>
            <a:xfrm>
              <a:off x="762000" y="952500"/>
              <a:ext cx="3810000" cy="1809600"/>
            </a:xfrm>
            <a:prstGeom prst="roundRect">
              <a:avLst>
                <a:gd fmla="val 2105" name="adj"/>
              </a:avLst>
            </a:prstGeom>
            <a:solidFill>
              <a:srgbClr val="121A26"/>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6" name="Google Shape;276;p18"/>
            <p:cNvSpPr txBox="1"/>
            <p:nvPr/>
          </p:nvSpPr>
          <p:spPr>
            <a:xfrm>
              <a:off x="904875" y="1066800"/>
              <a:ext cx="35244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00E5FF"/>
                  </a:solidFill>
                  <a:latin typeface="IBM Plex Mono SemiBold"/>
                  <a:ea typeface="IBM Plex Mono SemiBold"/>
                  <a:cs typeface="IBM Plex Mono SemiBold"/>
                  <a:sym typeface="IBM Plex Mono SemiBold"/>
                </a:rPr>
                <a:t>COGNITIVE GRAPH ENGINE // ADVERSARY PIPELINE RESOLUTION</a:t>
              </a:r>
              <a:endParaRPr b="0" sz="750">
                <a:solidFill>
                  <a:srgbClr val="00E5FF"/>
                </a:solidFill>
                <a:latin typeface="IBM Plex Mono SemiBold"/>
                <a:ea typeface="IBM Plex Mono SemiBold"/>
                <a:cs typeface="IBM Plex Mono SemiBold"/>
                <a:sym typeface="IBM Plex Mono SemiBold"/>
              </a:endParaRPr>
            </a:p>
          </p:txBody>
        </p:sp>
        <p:pic>
          <p:nvPicPr>
            <p:cNvPr id="277" name="Google Shape;277;p18"/>
            <p:cNvPicPr preferRelativeResize="0"/>
            <p:nvPr/>
          </p:nvPicPr>
          <p:blipFill rotWithShape="1">
            <a:blip r:embed="rId4">
              <a:alphaModFix/>
            </a:blip>
            <a:srcRect b="0" l="0" r="0" t="0"/>
            <a:stretch/>
          </p:blipFill>
          <p:spPr>
            <a:xfrm>
              <a:off x="904875" y="1233488"/>
              <a:ext cx="3524400" cy="9600"/>
            </a:xfrm>
            <a:prstGeom prst="rect">
              <a:avLst/>
            </a:prstGeom>
            <a:noFill/>
            <a:ln>
              <a:noFill/>
            </a:ln>
          </p:spPr>
        </p:pic>
        <p:grpSp>
          <p:nvGrpSpPr>
            <p:cNvPr id="278" name="Google Shape;278;p18"/>
            <p:cNvGrpSpPr/>
            <p:nvPr/>
          </p:nvGrpSpPr>
          <p:grpSpPr>
            <a:xfrm>
              <a:off x="1047750" y="1333500"/>
              <a:ext cx="3238500" cy="1352475"/>
              <a:chOff x="1047750" y="1333500"/>
              <a:chExt cx="3238500" cy="1352475"/>
            </a:xfrm>
          </p:grpSpPr>
          <p:pic>
            <p:nvPicPr>
              <p:cNvPr id="279" name="Google Shape;279;p18"/>
              <p:cNvPicPr preferRelativeResize="0"/>
              <p:nvPr/>
            </p:nvPicPr>
            <p:blipFill rotWithShape="1">
              <a:blip r:embed="rId5">
                <a:alphaModFix/>
              </a:blip>
              <a:srcRect b="0" l="0" r="0" t="0"/>
              <a:stretch/>
            </p:blipFill>
            <p:spPr>
              <a:xfrm>
                <a:off x="2452688" y="1738313"/>
                <a:ext cx="428700" cy="428700"/>
              </a:xfrm>
              <a:prstGeom prst="rect">
                <a:avLst/>
              </a:prstGeom>
              <a:noFill/>
              <a:ln>
                <a:noFill/>
              </a:ln>
            </p:spPr>
          </p:pic>
          <p:pic>
            <p:nvPicPr>
              <p:cNvPr id="280" name="Google Shape;280;p18"/>
              <p:cNvPicPr preferRelativeResize="0"/>
              <p:nvPr/>
            </p:nvPicPr>
            <p:blipFill rotWithShape="1">
              <a:blip r:embed="rId6">
                <a:alphaModFix/>
              </a:blip>
              <a:srcRect b="0" l="0" r="0" t="0"/>
              <a:stretch/>
            </p:blipFill>
            <p:spPr>
              <a:xfrm>
                <a:off x="1524000" y="1566863"/>
                <a:ext cx="1147800" cy="390600"/>
              </a:xfrm>
              <a:prstGeom prst="rect">
                <a:avLst/>
              </a:prstGeom>
              <a:noFill/>
              <a:ln>
                <a:noFill/>
              </a:ln>
            </p:spPr>
          </p:pic>
          <p:pic>
            <p:nvPicPr>
              <p:cNvPr id="281" name="Google Shape;281;p18"/>
              <p:cNvPicPr preferRelativeResize="0"/>
              <p:nvPr/>
            </p:nvPicPr>
            <p:blipFill rotWithShape="1">
              <a:blip r:embed="rId7">
                <a:alphaModFix/>
              </a:blip>
              <a:srcRect b="0" l="0" r="0" t="0"/>
              <a:stretch/>
            </p:blipFill>
            <p:spPr>
              <a:xfrm>
                <a:off x="2662238" y="1566863"/>
                <a:ext cx="1147800" cy="390600"/>
              </a:xfrm>
              <a:prstGeom prst="rect">
                <a:avLst/>
              </a:prstGeom>
              <a:noFill/>
              <a:ln>
                <a:noFill/>
              </a:ln>
            </p:spPr>
          </p:pic>
          <p:pic>
            <p:nvPicPr>
              <p:cNvPr id="282" name="Google Shape;282;p18"/>
              <p:cNvPicPr preferRelativeResize="0"/>
              <p:nvPr/>
            </p:nvPicPr>
            <p:blipFill rotWithShape="1">
              <a:blip r:embed="rId8">
                <a:alphaModFix/>
              </a:blip>
              <a:srcRect b="0" l="0" r="0" t="0"/>
              <a:stretch/>
            </p:blipFill>
            <p:spPr>
              <a:xfrm>
                <a:off x="1614488" y="1947863"/>
                <a:ext cx="1057200" cy="485700"/>
              </a:xfrm>
              <a:prstGeom prst="rect">
                <a:avLst/>
              </a:prstGeom>
              <a:noFill/>
              <a:ln>
                <a:noFill/>
              </a:ln>
            </p:spPr>
          </p:pic>
          <p:pic>
            <p:nvPicPr>
              <p:cNvPr id="283" name="Google Shape;283;p18"/>
              <p:cNvPicPr preferRelativeResize="0"/>
              <p:nvPr/>
            </p:nvPicPr>
            <p:blipFill rotWithShape="1">
              <a:blip r:embed="rId9">
                <a:alphaModFix/>
              </a:blip>
              <a:srcRect b="0" l="0" r="0" t="0"/>
              <a:stretch/>
            </p:blipFill>
            <p:spPr>
              <a:xfrm>
                <a:off x="2662238" y="1947863"/>
                <a:ext cx="1057200" cy="485700"/>
              </a:xfrm>
              <a:prstGeom prst="rect">
                <a:avLst/>
              </a:prstGeom>
              <a:noFill/>
              <a:ln>
                <a:noFill/>
              </a:ln>
            </p:spPr>
          </p:pic>
          <p:sp>
            <p:nvSpPr>
              <p:cNvPr id="284" name="Google Shape;284;p18"/>
              <p:cNvSpPr/>
              <p:nvPr/>
            </p:nvSpPr>
            <p:spPr>
              <a:xfrm>
                <a:off x="2533650" y="1819275"/>
                <a:ext cx="266700" cy="266700"/>
              </a:xfrm>
              <a:prstGeom prst="ellipse">
                <a:avLst/>
              </a:prstGeom>
              <a:solidFill>
                <a:srgbClr val="090D14"/>
              </a:solidFill>
              <a:ln cap="flat" cmpd="sng" w="1430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18"/>
              <p:cNvSpPr/>
              <p:nvPr/>
            </p:nvSpPr>
            <p:spPr>
              <a:xfrm>
                <a:off x="2609850" y="1895475"/>
                <a:ext cx="114300" cy="1143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18"/>
              <p:cNvSpPr/>
              <p:nvPr/>
            </p:nvSpPr>
            <p:spPr>
              <a:xfrm>
                <a:off x="1457325" y="1504950"/>
                <a:ext cx="133500" cy="133500"/>
              </a:xfrm>
              <a:prstGeom prst="ellipse">
                <a:avLst/>
              </a:prstGeom>
              <a:solidFill>
                <a:srgbClr val="121A26"/>
              </a:solidFill>
              <a:ln cap="flat" cmpd="sng" w="1430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18"/>
              <p:cNvSpPr/>
              <p:nvPr/>
            </p:nvSpPr>
            <p:spPr>
              <a:xfrm>
                <a:off x="1495425" y="1543050"/>
                <a:ext cx="57300" cy="573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8" name="Google Shape;288;p18"/>
              <p:cNvSpPr/>
              <p:nvPr/>
            </p:nvSpPr>
            <p:spPr>
              <a:xfrm>
                <a:off x="3743325" y="1504950"/>
                <a:ext cx="133500" cy="133500"/>
              </a:xfrm>
              <a:prstGeom prst="ellipse">
                <a:avLst/>
              </a:prstGeom>
              <a:solidFill>
                <a:srgbClr val="121A26"/>
              </a:solidFill>
              <a:ln cap="flat" cmpd="sng" w="14300">
                <a:solidFill>
                  <a:srgbClr val="FFB3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9" name="Google Shape;289;p18"/>
              <p:cNvSpPr/>
              <p:nvPr/>
            </p:nvSpPr>
            <p:spPr>
              <a:xfrm>
                <a:off x="3781425" y="1543050"/>
                <a:ext cx="57300" cy="57300"/>
              </a:xfrm>
              <a:prstGeom prst="ellipse">
                <a:avLst/>
              </a:prstGeom>
              <a:solidFill>
                <a:srgbClr val="FFB3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0" name="Google Shape;290;p18"/>
              <p:cNvSpPr/>
              <p:nvPr/>
            </p:nvSpPr>
            <p:spPr>
              <a:xfrm>
                <a:off x="1552575" y="2362200"/>
                <a:ext cx="133500" cy="133500"/>
              </a:xfrm>
              <a:prstGeom prst="ellipse">
                <a:avLst/>
              </a:prstGeom>
              <a:solidFill>
                <a:srgbClr val="121A26"/>
              </a:solidFill>
              <a:ln cap="flat" cmpd="sng" w="1430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18"/>
              <p:cNvSpPr/>
              <p:nvPr/>
            </p:nvSpPr>
            <p:spPr>
              <a:xfrm>
                <a:off x="1590675" y="2400300"/>
                <a:ext cx="57300" cy="573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18"/>
              <p:cNvSpPr/>
              <p:nvPr/>
            </p:nvSpPr>
            <p:spPr>
              <a:xfrm>
                <a:off x="3648075" y="2362200"/>
                <a:ext cx="133500" cy="133500"/>
              </a:xfrm>
              <a:prstGeom prst="ellipse">
                <a:avLst/>
              </a:prstGeom>
              <a:solidFill>
                <a:srgbClr val="121A26"/>
              </a:solidFill>
              <a:ln cap="flat" cmpd="sng" w="1430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3" name="Google Shape;293;p18"/>
              <p:cNvSpPr/>
              <p:nvPr/>
            </p:nvSpPr>
            <p:spPr>
              <a:xfrm>
                <a:off x="3686175" y="2400300"/>
                <a:ext cx="57300" cy="573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4" name="Google Shape;294;p18"/>
              <p:cNvSpPr txBox="1"/>
              <p:nvPr/>
            </p:nvSpPr>
            <p:spPr>
              <a:xfrm>
                <a:off x="1047750" y="1333500"/>
                <a:ext cx="952500" cy="142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600">
                    <a:solidFill>
                      <a:srgbClr val="475569"/>
                    </a:solidFill>
                    <a:latin typeface="IBM Plex Mono"/>
                    <a:ea typeface="IBM Plex Mono"/>
                    <a:cs typeface="IBM Plex Mono"/>
                    <a:sym typeface="IBM Plex Mono"/>
                  </a:rPr>
                  <a:t>FIN. NETWORKS</a:t>
                </a:r>
                <a:endParaRPr b="0" sz="600">
                  <a:solidFill>
                    <a:srgbClr val="475569"/>
                  </a:solidFill>
                  <a:latin typeface="IBM Plex Mono"/>
                  <a:ea typeface="IBM Plex Mono"/>
                  <a:cs typeface="IBM Plex Mono"/>
                  <a:sym typeface="IBM Plex Mono"/>
                </a:endParaRPr>
              </a:p>
            </p:txBody>
          </p:sp>
          <p:sp>
            <p:nvSpPr>
              <p:cNvPr id="295" name="Google Shape;295;p18"/>
              <p:cNvSpPr txBox="1"/>
              <p:nvPr/>
            </p:nvSpPr>
            <p:spPr>
              <a:xfrm>
                <a:off x="3333750" y="1333500"/>
                <a:ext cx="952500" cy="142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600">
                    <a:solidFill>
                      <a:srgbClr val="FFB347"/>
                    </a:solidFill>
                    <a:latin typeface="IBM Plex Mono"/>
                    <a:ea typeface="IBM Plex Mono"/>
                    <a:cs typeface="IBM Plex Mono"/>
                    <a:sym typeface="IBM Plex Mono"/>
                  </a:rPr>
                  <a:t>MFG. CHOKE</a:t>
                </a:r>
                <a:endParaRPr b="0" sz="600">
                  <a:solidFill>
                    <a:srgbClr val="FFB347"/>
                  </a:solidFill>
                  <a:latin typeface="IBM Plex Mono"/>
                  <a:ea typeface="IBM Plex Mono"/>
                  <a:cs typeface="IBM Plex Mono"/>
                  <a:sym typeface="IBM Plex Mono"/>
                </a:endParaRPr>
              </a:p>
            </p:txBody>
          </p:sp>
          <p:sp>
            <p:nvSpPr>
              <p:cNvPr id="296" name="Google Shape;296;p18"/>
              <p:cNvSpPr txBox="1"/>
              <p:nvPr/>
            </p:nvSpPr>
            <p:spPr>
              <a:xfrm>
                <a:off x="1143000" y="2543175"/>
                <a:ext cx="952500" cy="142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600">
                    <a:solidFill>
                      <a:srgbClr val="475569"/>
                    </a:solidFill>
                    <a:latin typeface="IBM Plex Mono"/>
                    <a:ea typeface="IBM Plex Mono"/>
                    <a:cs typeface="IBM Plex Mono"/>
                    <a:sym typeface="IBM Plex Mono"/>
                  </a:rPr>
                  <a:t>FRONT CO.</a:t>
                </a:r>
                <a:endParaRPr b="0" sz="600">
                  <a:solidFill>
                    <a:srgbClr val="475569"/>
                  </a:solidFill>
                  <a:latin typeface="IBM Plex Mono"/>
                  <a:ea typeface="IBM Plex Mono"/>
                  <a:cs typeface="IBM Plex Mono"/>
                  <a:sym typeface="IBM Plex Mono"/>
                </a:endParaRPr>
              </a:p>
            </p:txBody>
          </p:sp>
          <p:sp>
            <p:nvSpPr>
              <p:cNvPr id="297" name="Google Shape;297;p18"/>
              <p:cNvSpPr txBox="1"/>
              <p:nvPr/>
            </p:nvSpPr>
            <p:spPr>
              <a:xfrm>
                <a:off x="3238500" y="2543175"/>
                <a:ext cx="952500" cy="1428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600">
                    <a:solidFill>
                      <a:srgbClr val="475569"/>
                    </a:solidFill>
                    <a:latin typeface="IBM Plex Mono"/>
                    <a:ea typeface="IBM Plex Mono"/>
                    <a:cs typeface="IBM Plex Mono"/>
                    <a:sym typeface="IBM Plex Mono"/>
                  </a:rPr>
                  <a:t>KEY RESEARCH</a:t>
                </a:r>
                <a:endParaRPr b="0" sz="600">
                  <a:solidFill>
                    <a:srgbClr val="475569"/>
                  </a:solidFill>
                  <a:latin typeface="IBM Plex Mono"/>
                  <a:ea typeface="IBM Plex Mono"/>
                  <a:cs typeface="IBM Plex Mono"/>
                  <a:sym typeface="IBM Plex Mono"/>
                </a:endParaRPr>
              </a:p>
            </p:txBody>
          </p:sp>
        </p:grpSp>
        <p:grpSp>
          <p:nvGrpSpPr>
            <p:cNvPr id="298" name="Google Shape;298;p18"/>
            <p:cNvGrpSpPr/>
            <p:nvPr/>
          </p:nvGrpSpPr>
          <p:grpSpPr>
            <a:xfrm>
              <a:off x="762000" y="2905125"/>
              <a:ext cx="3810000" cy="1857300"/>
              <a:chOff x="762000" y="2905125"/>
              <a:chExt cx="3810000" cy="1857300"/>
            </a:xfrm>
          </p:grpSpPr>
          <p:sp>
            <p:nvSpPr>
              <p:cNvPr id="299" name="Google Shape;299;p18"/>
              <p:cNvSpPr/>
              <p:nvPr/>
            </p:nvSpPr>
            <p:spPr>
              <a:xfrm>
                <a:off x="762000" y="2905125"/>
                <a:ext cx="3810000" cy="1857300"/>
              </a:xfrm>
              <a:prstGeom prst="roundRect">
                <a:avLst>
                  <a:gd fmla="val 2051" name="adj"/>
                </a:avLst>
              </a:prstGeom>
              <a:solidFill>
                <a:srgbClr val="1E293B"/>
              </a:solidFill>
              <a:ln cap="flat" cmpd="sng" w="1430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18"/>
              <p:cNvSpPr/>
              <p:nvPr/>
            </p:nvSpPr>
            <p:spPr>
              <a:xfrm>
                <a:off x="762000" y="2905125"/>
                <a:ext cx="57300" cy="18573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1" name="Google Shape;301;p18"/>
              <p:cNvSpPr/>
              <p:nvPr/>
            </p:nvSpPr>
            <p:spPr>
              <a:xfrm>
                <a:off x="762000" y="2905125"/>
                <a:ext cx="57300" cy="381000"/>
              </a:xfrm>
              <a:prstGeom prst="rect">
                <a:avLst/>
              </a:prstGeom>
              <a:solidFill>
                <a:srgbClr val="FFB3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2" name="Google Shape;302;p18"/>
              <p:cNvSpPr txBox="1"/>
              <p:nvPr/>
            </p:nvSpPr>
            <p:spPr>
              <a:xfrm>
                <a:off x="1000125" y="3048000"/>
                <a:ext cx="3333900" cy="157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25">
                    <a:solidFill>
                      <a:srgbClr val="FFB347"/>
                    </a:solidFill>
                    <a:latin typeface="IBM Plex Mono SemiBold"/>
                    <a:ea typeface="IBM Plex Mono SemiBold"/>
                    <a:cs typeface="IBM Plex Mono SemiBold"/>
                    <a:sym typeface="IBM Plex Mono SemiBold"/>
                  </a:rPr>
                  <a:t>[ CRITICAL CHOKEPOINT IDENTIFICATION ]</a:t>
                </a:r>
                <a:endParaRPr b="0" sz="825">
                  <a:solidFill>
                    <a:srgbClr val="FFB347"/>
                  </a:solidFill>
                  <a:latin typeface="IBM Plex Mono SemiBold"/>
                  <a:ea typeface="IBM Plex Mono SemiBold"/>
                  <a:cs typeface="IBM Plex Mono SemiBold"/>
                  <a:sym typeface="IBM Plex Mono SemiBold"/>
                </a:endParaRPr>
              </a:p>
              <a:p>
                <a:pPr indent="0" lvl="0" marL="0" rtl="0" algn="l">
                  <a:spcBef>
                    <a:spcPts val="450"/>
                  </a:spcBef>
                  <a:spcAft>
                    <a:spcPts val="0"/>
                  </a:spcAft>
                  <a:buNone/>
                </a:pPr>
                <a:r>
                  <a:rPr b="1" lang="en" sz="1125">
                    <a:solidFill>
                      <a:srgbClr val="E2E8F0"/>
                    </a:solidFill>
                    <a:latin typeface="IBM Plex Mono"/>
                    <a:ea typeface="IBM Plex Mono"/>
                    <a:cs typeface="IBM Plex Mono"/>
                    <a:sym typeface="IBM Plex Mono"/>
                  </a:rPr>
                  <a:t>STRATEGIC CHOKEPOINTS</a:t>
                </a:r>
                <a:endParaRPr b="1" sz="1125">
                  <a:solidFill>
                    <a:srgbClr val="E2E8F0"/>
                  </a:solidFill>
                  <a:latin typeface="IBM Plex Mono"/>
                  <a:ea typeface="IBM Plex Mono"/>
                  <a:cs typeface="IBM Plex Mono"/>
                  <a:sym typeface="IBM Plex Mono"/>
                </a:endParaRPr>
              </a:p>
              <a:p>
                <a:pPr indent="0" lvl="0" marL="0" rtl="0" algn="l">
                  <a:spcBef>
                    <a:spcPts val="750"/>
                  </a:spcBef>
                  <a:spcAft>
                    <a:spcPts val="0"/>
                  </a:spcAft>
                  <a:buNone/>
                </a:pPr>
                <a:r>
                  <a:rPr b="0" lang="en" sz="975">
                    <a:solidFill>
                      <a:srgbClr val="94A3B8"/>
                    </a:solidFill>
                    <a:latin typeface="IBM Plex Sans"/>
                    <a:ea typeface="IBM Plex Sans"/>
                    <a:cs typeface="IBM Plex Sans"/>
                    <a:sym typeface="IBM Plex Sans"/>
                  </a:rPr>
                  <a:t>The intelligence graph provides INDOPACOM and Strategic Command with exact vulnerabilities within the adversary's scaling pipeline.</a:t>
                </a:r>
                <a:endParaRPr b="0" sz="975">
                  <a:solidFill>
                    <a:srgbClr val="94A3B8"/>
                  </a:solidFill>
                  <a:latin typeface="IBM Plex Sans"/>
                  <a:ea typeface="IBM Plex Sans"/>
                  <a:cs typeface="IBM Plex Sans"/>
                  <a:sym typeface="IBM Plex Sans"/>
                </a:endParaRPr>
              </a:p>
            </p:txBody>
          </p:sp>
        </p:grpSp>
      </p:grpSp>
      <p:grpSp>
        <p:nvGrpSpPr>
          <p:cNvPr id="303" name="Google Shape;303;p18"/>
          <p:cNvGrpSpPr/>
          <p:nvPr/>
        </p:nvGrpSpPr>
        <p:grpSpPr>
          <a:xfrm>
            <a:off x="4762500" y="952500"/>
            <a:ext cx="4000500" cy="3762450"/>
            <a:chOff x="4762500" y="952500"/>
            <a:chExt cx="4000500" cy="3762450"/>
          </a:xfrm>
        </p:grpSpPr>
        <p:grpSp>
          <p:nvGrpSpPr>
            <p:cNvPr id="304" name="Google Shape;304;p18"/>
            <p:cNvGrpSpPr/>
            <p:nvPr/>
          </p:nvGrpSpPr>
          <p:grpSpPr>
            <a:xfrm>
              <a:off x="4762500" y="952500"/>
              <a:ext cx="4000500" cy="1190700"/>
              <a:chOff x="0" y="0"/>
              <a:chExt cx="4000500" cy="1190700"/>
            </a:xfrm>
          </p:grpSpPr>
          <p:sp>
            <p:nvSpPr>
              <p:cNvPr id="305" name="Google Shape;305;p18"/>
              <p:cNvSpPr/>
              <p:nvPr/>
            </p:nvSpPr>
            <p:spPr>
              <a:xfrm>
                <a:off x="0" y="0"/>
                <a:ext cx="4000500" cy="1190700"/>
              </a:xfrm>
              <a:prstGeom prst="roundRect">
                <a:avLst>
                  <a:gd fmla="val 3200" name="adj"/>
                </a:avLst>
              </a:prstGeom>
              <a:solidFill>
                <a:srgbClr val="121A26"/>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18"/>
              <p:cNvSpPr/>
              <p:nvPr/>
            </p:nvSpPr>
            <p:spPr>
              <a:xfrm>
                <a:off x="0" y="0"/>
                <a:ext cx="38100" cy="11907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7" name="Google Shape;307;p18"/>
              <p:cNvSpPr/>
              <p:nvPr/>
            </p:nvSpPr>
            <p:spPr>
              <a:xfrm>
                <a:off x="2952750" y="114300"/>
                <a:ext cx="904800" cy="171600"/>
              </a:xfrm>
              <a:prstGeom prst="roundRect">
                <a:avLst>
                  <a:gd fmla="val 11111" name="adj"/>
                </a:avLst>
              </a:prstGeom>
              <a:solidFill>
                <a:srgbClr val="1E293B"/>
              </a:solidFill>
              <a:ln cap="flat" cmpd="sng" w="4775">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8" name="Google Shape;308;p18"/>
              <p:cNvSpPr txBox="1"/>
              <p:nvPr/>
            </p:nvSpPr>
            <p:spPr>
              <a:xfrm>
                <a:off x="2952750" y="133350"/>
                <a:ext cx="9048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600">
                    <a:solidFill>
                      <a:srgbClr val="00E5FF"/>
                    </a:solidFill>
                    <a:latin typeface="IBM Plex Mono SemiBold"/>
                    <a:ea typeface="IBM Plex Mono SemiBold"/>
                    <a:cs typeface="IBM Plex Mono SemiBold"/>
                    <a:sym typeface="IBM Plex Mono SemiBold"/>
                  </a:rPr>
                  <a:t>[ STATUS: ACTIVE ]</a:t>
                </a:r>
                <a:endParaRPr/>
              </a:p>
            </p:txBody>
          </p:sp>
          <p:sp>
            <p:nvSpPr>
              <p:cNvPr id="309" name="Google Shape;309;p18"/>
              <p:cNvSpPr txBox="1"/>
              <p:nvPr/>
            </p:nvSpPr>
            <p:spPr>
              <a:xfrm>
                <a:off x="190500" y="142875"/>
                <a:ext cx="36195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00E5FF"/>
                    </a:solidFill>
                    <a:latin typeface="IBM Plex Mono SemiBold"/>
                    <a:ea typeface="IBM Plex Mono SemiBold"/>
                    <a:cs typeface="IBM Plex Mono SemiBold"/>
                    <a:sym typeface="IBM Plex Mono SemiBold"/>
                  </a:rPr>
                  <a:t>[01] ECONOMIC SANCTIONS</a:t>
                </a:r>
                <a:endParaRPr b="0" sz="975">
                  <a:solidFill>
                    <a:srgbClr val="00E5FF"/>
                  </a:solidFill>
                  <a:latin typeface="IBM Plex Mono SemiBold"/>
                  <a:ea typeface="IBM Plex Mono SemiBold"/>
                  <a:cs typeface="IBM Plex Mono SemiBold"/>
                  <a:sym typeface="IBM Plex Mono SemiBold"/>
                </a:endParaRPr>
              </a:p>
              <a:p>
                <a:pPr indent="0" lvl="0" marL="0" rtl="0" algn="l">
                  <a:spcBef>
                    <a:spcPts val="600"/>
                  </a:spcBef>
                  <a:spcAft>
                    <a:spcPts val="0"/>
                  </a:spcAft>
                  <a:buNone/>
                </a:pPr>
                <a:r>
                  <a:rPr b="0" lang="en" sz="938">
                    <a:solidFill>
                      <a:srgbClr val="94A3B8"/>
                    </a:solidFill>
                    <a:latin typeface="IBM Plex Sans"/>
                    <a:ea typeface="IBM Plex Sans"/>
                    <a:cs typeface="IBM Plex Sans"/>
                    <a:sym typeface="IBM Plex Sans"/>
                  </a:rPr>
                  <a:t>Identifies specific front companies and financial networks for precision economic targeting and treasury sanctions.</a:t>
                </a:r>
                <a:endParaRPr b="0" sz="938">
                  <a:solidFill>
                    <a:srgbClr val="94A3B8"/>
                  </a:solidFill>
                  <a:latin typeface="IBM Plex Sans"/>
                  <a:ea typeface="IBM Plex Sans"/>
                  <a:cs typeface="IBM Plex Sans"/>
                  <a:sym typeface="IBM Plex Sans"/>
                </a:endParaRPr>
              </a:p>
            </p:txBody>
          </p:sp>
        </p:grpSp>
        <p:grpSp>
          <p:nvGrpSpPr>
            <p:cNvPr id="310" name="Google Shape;310;p18"/>
            <p:cNvGrpSpPr/>
            <p:nvPr/>
          </p:nvGrpSpPr>
          <p:grpSpPr>
            <a:xfrm>
              <a:off x="4762500" y="2238375"/>
              <a:ext cx="4000500" cy="1190700"/>
              <a:chOff x="0" y="0"/>
              <a:chExt cx="4000500" cy="1190700"/>
            </a:xfrm>
          </p:grpSpPr>
          <p:sp>
            <p:nvSpPr>
              <p:cNvPr id="311" name="Google Shape;311;p18"/>
              <p:cNvSpPr/>
              <p:nvPr/>
            </p:nvSpPr>
            <p:spPr>
              <a:xfrm>
                <a:off x="0" y="0"/>
                <a:ext cx="4000500" cy="1190700"/>
              </a:xfrm>
              <a:prstGeom prst="roundRect">
                <a:avLst>
                  <a:gd fmla="val 3200" name="adj"/>
                </a:avLst>
              </a:prstGeom>
              <a:solidFill>
                <a:srgbClr val="121A26"/>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2" name="Google Shape;312;p18"/>
              <p:cNvSpPr/>
              <p:nvPr/>
            </p:nvSpPr>
            <p:spPr>
              <a:xfrm>
                <a:off x="0" y="0"/>
                <a:ext cx="38100" cy="1190700"/>
              </a:xfrm>
              <a:prstGeom prst="rect">
                <a:avLst/>
              </a:prstGeom>
              <a:solidFill>
                <a:srgbClr val="FFB3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18"/>
              <p:cNvSpPr/>
              <p:nvPr/>
            </p:nvSpPr>
            <p:spPr>
              <a:xfrm>
                <a:off x="2952750" y="114300"/>
                <a:ext cx="904800" cy="171600"/>
              </a:xfrm>
              <a:prstGeom prst="roundRect">
                <a:avLst>
                  <a:gd fmla="val 11111" name="adj"/>
                </a:avLst>
              </a:prstGeom>
              <a:solidFill>
                <a:srgbClr val="1E293B"/>
              </a:solidFill>
              <a:ln cap="flat" cmpd="sng" w="4775">
                <a:solidFill>
                  <a:srgbClr val="FFB3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18"/>
              <p:cNvSpPr txBox="1"/>
              <p:nvPr/>
            </p:nvSpPr>
            <p:spPr>
              <a:xfrm>
                <a:off x="2952750" y="133350"/>
                <a:ext cx="9048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600">
                    <a:solidFill>
                      <a:srgbClr val="FFB347"/>
                    </a:solidFill>
                    <a:latin typeface="IBM Plex Mono SemiBold"/>
                    <a:ea typeface="IBM Plex Mono SemiBold"/>
                    <a:cs typeface="IBM Plex Mono SemiBold"/>
                    <a:sym typeface="IBM Plex Mono SemiBold"/>
                  </a:rPr>
                  <a:t>[ RISK: SEVERE ]</a:t>
                </a:r>
                <a:endParaRPr/>
              </a:p>
            </p:txBody>
          </p:sp>
          <p:sp>
            <p:nvSpPr>
              <p:cNvPr id="315" name="Google Shape;315;p18"/>
              <p:cNvSpPr txBox="1"/>
              <p:nvPr/>
            </p:nvSpPr>
            <p:spPr>
              <a:xfrm>
                <a:off x="190500" y="142875"/>
                <a:ext cx="36195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FFB347"/>
                    </a:solidFill>
                    <a:latin typeface="IBM Plex Mono SemiBold"/>
                    <a:ea typeface="IBM Plex Mono SemiBold"/>
                    <a:cs typeface="IBM Plex Mono SemiBold"/>
                    <a:sym typeface="IBM Plex Mono SemiBold"/>
                  </a:rPr>
                  <a:t>[02] EXPORT CONTROLS</a:t>
                </a:r>
                <a:endParaRPr b="0" sz="975">
                  <a:solidFill>
                    <a:srgbClr val="FFB347"/>
                  </a:solidFill>
                  <a:latin typeface="IBM Plex Mono SemiBold"/>
                  <a:ea typeface="IBM Plex Mono SemiBold"/>
                  <a:cs typeface="IBM Plex Mono SemiBold"/>
                  <a:sym typeface="IBM Plex Mono SemiBold"/>
                </a:endParaRPr>
              </a:p>
              <a:p>
                <a:pPr indent="0" lvl="0" marL="0" rtl="0" algn="l">
                  <a:spcBef>
                    <a:spcPts val="600"/>
                  </a:spcBef>
                  <a:spcAft>
                    <a:spcPts val="0"/>
                  </a:spcAft>
                  <a:buNone/>
                </a:pPr>
                <a:r>
                  <a:rPr b="0" lang="en" sz="938">
                    <a:solidFill>
                      <a:srgbClr val="94A3B8"/>
                    </a:solidFill>
                    <a:latin typeface="IBM Plex Sans"/>
                    <a:ea typeface="IBM Plex Sans"/>
                    <a:cs typeface="IBM Plex Sans"/>
                    <a:sym typeface="IBM Plex Sans"/>
                  </a:rPr>
                  <a:t>Informs the restriction of bespoke manufacturing equipment and specialized raw materials, degrading the adversary's production capacity.</a:t>
                </a:r>
                <a:endParaRPr b="0" sz="938">
                  <a:solidFill>
                    <a:srgbClr val="94A3B8"/>
                  </a:solidFill>
                  <a:latin typeface="IBM Plex Sans"/>
                  <a:ea typeface="IBM Plex Sans"/>
                  <a:cs typeface="IBM Plex Sans"/>
                  <a:sym typeface="IBM Plex Sans"/>
                </a:endParaRPr>
              </a:p>
            </p:txBody>
          </p:sp>
        </p:grpSp>
        <p:grpSp>
          <p:nvGrpSpPr>
            <p:cNvPr id="316" name="Google Shape;316;p18"/>
            <p:cNvGrpSpPr/>
            <p:nvPr/>
          </p:nvGrpSpPr>
          <p:grpSpPr>
            <a:xfrm>
              <a:off x="4762500" y="3524250"/>
              <a:ext cx="4000500" cy="1190700"/>
              <a:chOff x="0" y="0"/>
              <a:chExt cx="4000500" cy="1190700"/>
            </a:xfrm>
          </p:grpSpPr>
          <p:sp>
            <p:nvSpPr>
              <p:cNvPr id="317" name="Google Shape;317;p18"/>
              <p:cNvSpPr/>
              <p:nvPr/>
            </p:nvSpPr>
            <p:spPr>
              <a:xfrm>
                <a:off x="0" y="0"/>
                <a:ext cx="4000500" cy="1190700"/>
              </a:xfrm>
              <a:prstGeom prst="roundRect">
                <a:avLst>
                  <a:gd fmla="val 3200" name="adj"/>
                </a:avLst>
              </a:prstGeom>
              <a:solidFill>
                <a:srgbClr val="121A26"/>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18"/>
              <p:cNvSpPr/>
              <p:nvPr/>
            </p:nvSpPr>
            <p:spPr>
              <a:xfrm>
                <a:off x="0" y="0"/>
                <a:ext cx="38100" cy="11907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18"/>
              <p:cNvSpPr/>
              <p:nvPr/>
            </p:nvSpPr>
            <p:spPr>
              <a:xfrm>
                <a:off x="2952750" y="114300"/>
                <a:ext cx="904800" cy="171600"/>
              </a:xfrm>
              <a:prstGeom prst="roundRect">
                <a:avLst>
                  <a:gd fmla="val 11111" name="adj"/>
                </a:avLst>
              </a:prstGeom>
              <a:solidFill>
                <a:srgbClr val="1E293B"/>
              </a:solidFill>
              <a:ln cap="flat" cmpd="sng" w="4775">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18"/>
              <p:cNvSpPr txBox="1"/>
              <p:nvPr/>
            </p:nvSpPr>
            <p:spPr>
              <a:xfrm>
                <a:off x="2952750" y="133350"/>
                <a:ext cx="904800" cy="15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600">
                    <a:solidFill>
                      <a:srgbClr val="00E5FF"/>
                    </a:solidFill>
                    <a:latin typeface="IBM Plex Mono SemiBold"/>
                    <a:ea typeface="IBM Plex Mono SemiBold"/>
                    <a:cs typeface="IBM Plex Mono SemiBold"/>
                    <a:sym typeface="IBM Plex Mono SemiBold"/>
                  </a:rPr>
                  <a:t>[ VECTOR: DISRUPT ]</a:t>
                </a:r>
                <a:endParaRPr/>
              </a:p>
            </p:txBody>
          </p:sp>
          <p:sp>
            <p:nvSpPr>
              <p:cNvPr id="321" name="Google Shape;321;p18"/>
              <p:cNvSpPr txBox="1"/>
              <p:nvPr/>
            </p:nvSpPr>
            <p:spPr>
              <a:xfrm>
                <a:off x="190500" y="142875"/>
                <a:ext cx="36195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00E5FF"/>
                    </a:solidFill>
                    <a:latin typeface="IBM Plex Mono SemiBold"/>
                    <a:ea typeface="IBM Plex Mono SemiBold"/>
                    <a:cs typeface="IBM Plex Mono SemiBold"/>
                    <a:sym typeface="IBM Plex Mono SemiBold"/>
                  </a:rPr>
                  <a:t>[03] INFLUENCE OPERATIONS</a:t>
                </a:r>
                <a:endParaRPr b="0" sz="975">
                  <a:solidFill>
                    <a:srgbClr val="00E5FF"/>
                  </a:solidFill>
                  <a:latin typeface="IBM Plex Mono SemiBold"/>
                  <a:ea typeface="IBM Plex Mono SemiBold"/>
                  <a:cs typeface="IBM Plex Mono SemiBold"/>
                  <a:sym typeface="IBM Plex Mono SemiBold"/>
                </a:endParaRPr>
              </a:p>
              <a:p>
                <a:pPr indent="0" lvl="0" marL="0" rtl="0" algn="l">
                  <a:spcBef>
                    <a:spcPts val="600"/>
                  </a:spcBef>
                  <a:spcAft>
                    <a:spcPts val="0"/>
                  </a:spcAft>
                  <a:buNone/>
                </a:pPr>
                <a:r>
                  <a:rPr b="0" lang="en" sz="938">
                    <a:solidFill>
                      <a:srgbClr val="94A3B8"/>
                    </a:solidFill>
                    <a:latin typeface="IBM Plex Sans"/>
                    <a:ea typeface="IBM Plex Sans"/>
                    <a:cs typeface="IBM Plex Sans"/>
                    <a:sym typeface="IBM Plex Sans"/>
                  </a:rPr>
                  <a:t>Maps key personnel and research institutions to support targeted disruption and counter-intelligence operations.</a:t>
                </a:r>
                <a:endParaRPr b="0" sz="938">
                  <a:solidFill>
                    <a:srgbClr val="94A3B8"/>
                  </a:solidFill>
                  <a:latin typeface="IBM Plex Sans"/>
                  <a:ea typeface="IBM Plex Sans"/>
                  <a:cs typeface="IBM Plex Sans"/>
                  <a:sym typeface="IBM Plex Sans"/>
                </a:endParaRPr>
              </a:p>
            </p:txBody>
          </p:sp>
        </p:grpSp>
      </p:grpSp>
      <p:pic>
        <p:nvPicPr>
          <p:cNvPr id="322" name="Google Shape;322;p18"/>
          <p:cNvPicPr preferRelativeResize="0"/>
          <p:nvPr/>
        </p:nvPicPr>
        <p:blipFill>
          <a:blip r:embed="rId10">
            <a:alphaModFix/>
          </a:blip>
          <a:stretch>
            <a:fillRect/>
          </a:stretch>
        </p:blipFill>
        <p:spPr>
          <a:xfrm>
            <a:off x="762000" y="952500"/>
            <a:ext cx="3810001" cy="1864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19"/>
          <p:cNvSpPr/>
          <p:nvPr/>
        </p:nvSpPr>
        <p:spPr>
          <a:xfrm>
            <a:off x="0" y="0"/>
            <a:ext cx="9144000" cy="5143500"/>
          </a:xfrm>
          <a:prstGeom prst="rect">
            <a:avLst/>
          </a:prstGeom>
          <a:solidFill>
            <a:srgbClr val="090D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28" name="Google Shape;328;p19"/>
          <p:cNvGrpSpPr/>
          <p:nvPr/>
        </p:nvGrpSpPr>
        <p:grpSpPr>
          <a:xfrm>
            <a:off x="190500" y="190500"/>
            <a:ext cx="8763000" cy="4762500"/>
            <a:chOff x="190500" y="190500"/>
            <a:chExt cx="8763000" cy="4762500"/>
          </a:xfrm>
        </p:grpSpPr>
        <p:sp>
          <p:nvSpPr>
            <p:cNvPr id="329" name="Google Shape;329;p19"/>
            <p:cNvSpPr/>
            <p:nvPr/>
          </p:nvSpPr>
          <p:spPr>
            <a:xfrm>
              <a:off x="190500" y="190500"/>
              <a:ext cx="190500" cy="190500"/>
            </a:xfrm>
            <a:custGeom>
              <a:rect b="b" l="l" r="r" t="t"/>
              <a:pathLst>
                <a:path extrusionOk="0" h="120000" w="120000">
                  <a:moveTo>
                    <a:pt x="0" y="120000"/>
                  </a:moveTo>
                  <a:lnTo>
                    <a:pt x="0" y="0"/>
                  </a:lnTo>
                  <a:lnTo>
                    <a:pt x="120000" y="0"/>
                  </a:lnTo>
                </a:path>
              </a:pathLst>
            </a:cu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0" name="Google Shape;330;p19"/>
            <p:cNvSpPr/>
            <p:nvPr/>
          </p:nvSpPr>
          <p:spPr>
            <a:xfrm>
              <a:off x="8763000" y="190500"/>
              <a:ext cx="190500" cy="190500"/>
            </a:xfrm>
            <a:custGeom>
              <a:rect b="b" l="l" r="r" t="t"/>
              <a:pathLst>
                <a:path extrusionOk="0" h="120000" w="120000">
                  <a:moveTo>
                    <a:pt x="120000" y="120000"/>
                  </a:moveTo>
                  <a:lnTo>
                    <a:pt x="120000" y="0"/>
                  </a:lnTo>
                  <a:lnTo>
                    <a:pt x="0" y="0"/>
                  </a:lnTo>
                </a:path>
              </a:pathLst>
            </a:cu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19"/>
            <p:cNvSpPr/>
            <p:nvPr/>
          </p:nvSpPr>
          <p:spPr>
            <a:xfrm>
              <a:off x="190500" y="4762500"/>
              <a:ext cx="190500" cy="190500"/>
            </a:xfrm>
            <a:custGeom>
              <a:rect b="b" l="l" r="r" t="t"/>
              <a:pathLst>
                <a:path extrusionOk="0" h="120000" w="120000">
                  <a:moveTo>
                    <a:pt x="0" y="0"/>
                  </a:moveTo>
                  <a:lnTo>
                    <a:pt x="0" y="120000"/>
                  </a:lnTo>
                  <a:lnTo>
                    <a:pt x="120000" y="120000"/>
                  </a:lnTo>
                </a:path>
              </a:pathLst>
            </a:cu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19"/>
            <p:cNvSpPr/>
            <p:nvPr/>
          </p:nvSpPr>
          <p:spPr>
            <a:xfrm>
              <a:off x="8763000" y="4762500"/>
              <a:ext cx="190500" cy="190500"/>
            </a:xfrm>
            <a:custGeom>
              <a:rect b="b" l="l" r="r" t="t"/>
              <a:pathLst>
                <a:path extrusionOk="0" h="120000" w="120000">
                  <a:moveTo>
                    <a:pt x="120000" y="0"/>
                  </a:moveTo>
                  <a:lnTo>
                    <a:pt x="120000" y="120000"/>
                  </a:lnTo>
                  <a:lnTo>
                    <a:pt x="0" y="120000"/>
                  </a:lnTo>
                </a:path>
              </a:pathLst>
            </a:cu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33" name="Google Shape;333;p19"/>
          <p:cNvGrpSpPr/>
          <p:nvPr/>
        </p:nvGrpSpPr>
        <p:grpSpPr>
          <a:xfrm>
            <a:off x="381000" y="219075"/>
            <a:ext cx="3905250" cy="171600"/>
            <a:chOff x="0" y="-19050"/>
            <a:chExt cx="3905250" cy="171600"/>
          </a:xfrm>
        </p:grpSpPr>
        <p:sp>
          <p:nvSpPr>
            <p:cNvPr id="334" name="Google Shape;334;p19"/>
            <p:cNvSpPr/>
            <p:nvPr/>
          </p:nvSpPr>
          <p:spPr>
            <a:xfrm>
              <a:off x="0" y="0"/>
              <a:ext cx="28500" cy="1143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5" name="Google Shape;335;p19"/>
            <p:cNvSpPr txBox="1"/>
            <p:nvPr/>
          </p:nvSpPr>
          <p:spPr>
            <a:xfrm>
              <a:off x="95250" y="-19050"/>
              <a:ext cx="3810000" cy="171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75">
                  <a:solidFill>
                    <a:srgbClr val="475569"/>
                  </a:solidFill>
                  <a:latin typeface="IBM Plex Mono"/>
                  <a:ea typeface="IBM Plex Mono"/>
                  <a:cs typeface="IBM Plex Mono"/>
                  <a:sym typeface="IBM Plex Mono"/>
                </a:rPr>
                <a:t>SYS.OP // NODE-LINK ACTIVE // TRK-99 // USER: J. GREGORY</a:t>
              </a:r>
              <a:endParaRPr b="0" sz="675">
                <a:solidFill>
                  <a:srgbClr val="475569"/>
                </a:solidFill>
                <a:latin typeface="IBM Plex Mono"/>
                <a:ea typeface="IBM Plex Mono"/>
                <a:cs typeface="IBM Plex Mono"/>
                <a:sym typeface="IBM Plex Mono"/>
              </a:endParaRPr>
            </a:p>
          </p:txBody>
        </p:sp>
      </p:grpSp>
      <p:sp>
        <p:nvSpPr>
          <p:cNvPr id="336" name="Google Shape;336;p19"/>
          <p:cNvSpPr txBox="1"/>
          <p:nvPr/>
        </p:nvSpPr>
        <p:spPr>
          <a:xfrm>
            <a:off x="381000" y="428625"/>
            <a:ext cx="838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500">
                <a:solidFill>
                  <a:srgbClr val="E2E8F0"/>
                </a:solidFill>
                <a:latin typeface="IBM Plex Sans"/>
                <a:ea typeface="IBM Plex Sans"/>
                <a:cs typeface="IBM Plex Sans"/>
                <a:sym typeface="IBM Plex Sans"/>
              </a:rPr>
              <a:t>MISSION-CONTROL INTERFACE ACCELERATES COMPLEX INTELLIGENCE ANALYSIS</a:t>
            </a:r>
            <a:endParaRPr b="1" sz="1500">
              <a:solidFill>
                <a:srgbClr val="E2E8F0"/>
              </a:solidFill>
              <a:latin typeface="IBM Plex Sans"/>
              <a:ea typeface="IBM Plex Sans"/>
              <a:cs typeface="IBM Plex Sans"/>
              <a:sym typeface="IBM Plex Sans"/>
            </a:endParaRPr>
          </a:p>
        </p:txBody>
      </p:sp>
      <p:grpSp>
        <p:nvGrpSpPr>
          <p:cNvPr id="337" name="Google Shape;337;p19"/>
          <p:cNvGrpSpPr/>
          <p:nvPr/>
        </p:nvGrpSpPr>
        <p:grpSpPr>
          <a:xfrm>
            <a:off x="2667000" y="809625"/>
            <a:ext cx="3810000" cy="324000"/>
            <a:chOff x="0" y="0"/>
            <a:chExt cx="3810000" cy="324000"/>
          </a:xfrm>
        </p:grpSpPr>
        <p:sp>
          <p:nvSpPr>
            <p:cNvPr id="338" name="Google Shape;338;p19"/>
            <p:cNvSpPr/>
            <p:nvPr/>
          </p:nvSpPr>
          <p:spPr>
            <a:xfrm>
              <a:off x="0" y="0"/>
              <a:ext cx="3810000" cy="324000"/>
            </a:xfrm>
            <a:prstGeom prst="rect">
              <a:avLst/>
            </a:prstGeom>
            <a:solidFill>
              <a:srgbClr val="121A26"/>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9" name="Google Shape;339;p19"/>
            <p:cNvSpPr/>
            <p:nvPr/>
          </p:nvSpPr>
          <p:spPr>
            <a:xfrm>
              <a:off x="142875" y="133350"/>
              <a:ext cx="57300" cy="57300"/>
            </a:xfrm>
            <a:custGeom>
              <a:rect b="b" l="l" r="r" t="t"/>
              <a:pathLst>
                <a:path extrusionOk="0" h="120000" w="120000">
                  <a:moveTo>
                    <a:pt x="0" y="60000"/>
                  </a:moveTo>
                  <a:lnTo>
                    <a:pt x="120000" y="60000"/>
                  </a:lnTo>
                  <a:moveTo>
                    <a:pt x="60000" y="0"/>
                  </a:moveTo>
                  <a:lnTo>
                    <a:pt x="60000" y="120000"/>
                  </a:lnTo>
                </a:path>
              </a:pathLst>
            </a:custGeom>
            <a:solidFill>
              <a:srgbClr val="000000">
                <a:alpha val="0"/>
              </a:srgbClr>
            </a:solidFill>
            <a:ln cap="flat" cmpd="sng" w="14300">
              <a:solidFill>
                <a:srgbClr val="00E5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0" name="Google Shape;340;p19"/>
            <p:cNvSpPr txBox="1"/>
            <p:nvPr/>
          </p:nvSpPr>
          <p:spPr>
            <a:xfrm>
              <a:off x="333375" y="66675"/>
              <a:ext cx="33339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75">
                  <a:solidFill>
                    <a:srgbClr val="00E5FF"/>
                  </a:solidFill>
                  <a:latin typeface="IBM Plex Mono"/>
                  <a:ea typeface="IBM Plex Mono"/>
                  <a:cs typeface="IBM Plex Mono"/>
                  <a:sym typeface="IBM Plex Mono"/>
                </a:rPr>
                <a:t>[ QUERY: LOCAL AI PIPELINE / FOREIGN TRANSLATION / KEYWORDS ]</a:t>
              </a:r>
              <a:endParaRPr b="0" sz="675">
                <a:solidFill>
                  <a:srgbClr val="00E5FF"/>
                </a:solidFill>
                <a:latin typeface="IBM Plex Mono"/>
                <a:ea typeface="IBM Plex Mono"/>
                <a:cs typeface="IBM Plex Mono"/>
                <a:sym typeface="IBM Plex Mono"/>
              </a:endParaRPr>
            </a:p>
          </p:txBody>
        </p:sp>
      </p:grpSp>
      <p:grpSp>
        <p:nvGrpSpPr>
          <p:cNvPr id="341" name="Google Shape;341;p19"/>
          <p:cNvGrpSpPr/>
          <p:nvPr/>
        </p:nvGrpSpPr>
        <p:grpSpPr>
          <a:xfrm>
            <a:off x="381000" y="1285875"/>
            <a:ext cx="2571900" cy="3190875"/>
            <a:chOff x="381000" y="1285875"/>
            <a:chExt cx="2571900" cy="3190875"/>
          </a:xfrm>
        </p:grpSpPr>
        <p:grpSp>
          <p:nvGrpSpPr>
            <p:cNvPr id="342" name="Google Shape;342;p19"/>
            <p:cNvGrpSpPr/>
            <p:nvPr/>
          </p:nvGrpSpPr>
          <p:grpSpPr>
            <a:xfrm>
              <a:off x="381000" y="1285875"/>
              <a:ext cx="2571900" cy="1524000"/>
              <a:chOff x="0" y="0"/>
              <a:chExt cx="2571900" cy="1524000"/>
            </a:xfrm>
          </p:grpSpPr>
          <p:sp>
            <p:nvSpPr>
              <p:cNvPr id="343" name="Google Shape;343;p19"/>
              <p:cNvSpPr/>
              <p:nvPr/>
            </p:nvSpPr>
            <p:spPr>
              <a:xfrm>
                <a:off x="0" y="0"/>
                <a:ext cx="2571900" cy="1524000"/>
              </a:xfrm>
              <a:prstGeom prst="rect">
                <a:avLst/>
              </a:prstGeom>
              <a:solidFill>
                <a:srgbClr val="121A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4" name="Google Shape;344;p19"/>
              <p:cNvSpPr/>
              <p:nvPr/>
            </p:nvSpPr>
            <p:spPr>
              <a:xfrm>
                <a:off x="0" y="0"/>
                <a:ext cx="28500" cy="15240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19"/>
              <p:cNvSpPr txBox="1"/>
              <p:nvPr/>
            </p:nvSpPr>
            <p:spPr>
              <a:xfrm>
                <a:off x="142875" y="142875"/>
                <a:ext cx="22860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00E5FF"/>
                    </a:solidFill>
                    <a:latin typeface="IBM Plex Mono Medium"/>
                    <a:ea typeface="IBM Plex Mono Medium"/>
                    <a:cs typeface="IBM Plex Mono Medium"/>
                    <a:sym typeface="IBM Plex Mono Medium"/>
                  </a:rPr>
                  <a:t>[ LOCAL AI PLATFORM ]</a:t>
                </a:r>
                <a:endParaRPr b="0" sz="975">
                  <a:solidFill>
                    <a:srgbClr val="00E5FF"/>
                  </a:solidFill>
                  <a:latin typeface="IBM Plex Mono Medium"/>
                  <a:ea typeface="IBM Plex Mono Medium"/>
                  <a:cs typeface="IBM Plex Mono Medium"/>
                  <a:sym typeface="IBM Plex Mono Medium"/>
                </a:endParaRPr>
              </a:p>
              <a:p>
                <a:pPr indent="0" lvl="0" marL="0" rtl="0" algn="l">
                  <a:spcBef>
                    <a:spcPts val="450"/>
                  </a:spcBef>
                  <a:spcAft>
                    <a:spcPts val="0"/>
                  </a:spcAft>
                  <a:buNone/>
                </a:pPr>
                <a:r>
                  <a:rPr b="0" lang="en" sz="825">
                    <a:solidFill>
                      <a:srgbClr val="94A3B8"/>
                    </a:solidFill>
                    <a:latin typeface="IBM Plex Sans"/>
                    <a:ea typeface="IBM Plex Sans"/>
                    <a:cs typeface="IBM Plex Sans"/>
                    <a:sym typeface="IBM Plex Sans"/>
                  </a:rPr>
                  <a:t>A fully offline, air-gapped language model architecture designed to process sensitive intelligence locally without external API calls, maintaining complete operational security.</a:t>
                </a:r>
                <a:endParaRPr b="0" sz="825">
                  <a:solidFill>
                    <a:srgbClr val="94A3B8"/>
                  </a:solidFill>
                  <a:latin typeface="IBM Plex Sans"/>
                  <a:ea typeface="IBM Plex Sans"/>
                  <a:cs typeface="IBM Plex Sans"/>
                  <a:sym typeface="IBM Plex Sans"/>
                </a:endParaRPr>
              </a:p>
            </p:txBody>
          </p:sp>
        </p:grpSp>
        <p:grpSp>
          <p:nvGrpSpPr>
            <p:cNvPr id="346" name="Google Shape;346;p19"/>
            <p:cNvGrpSpPr/>
            <p:nvPr/>
          </p:nvGrpSpPr>
          <p:grpSpPr>
            <a:xfrm>
              <a:off x="381000" y="2952750"/>
              <a:ext cx="2571900" cy="1524000"/>
              <a:chOff x="0" y="0"/>
              <a:chExt cx="2571900" cy="1524000"/>
            </a:xfrm>
          </p:grpSpPr>
          <p:sp>
            <p:nvSpPr>
              <p:cNvPr id="347" name="Google Shape;347;p19"/>
              <p:cNvSpPr/>
              <p:nvPr/>
            </p:nvSpPr>
            <p:spPr>
              <a:xfrm>
                <a:off x="0" y="0"/>
                <a:ext cx="2571900" cy="1524000"/>
              </a:xfrm>
              <a:prstGeom prst="rect">
                <a:avLst/>
              </a:prstGeom>
              <a:solidFill>
                <a:srgbClr val="121A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19"/>
              <p:cNvSpPr/>
              <p:nvPr/>
            </p:nvSpPr>
            <p:spPr>
              <a:xfrm>
                <a:off x="0" y="0"/>
                <a:ext cx="28500" cy="15240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9" name="Google Shape;349;p19"/>
              <p:cNvSpPr txBox="1"/>
              <p:nvPr/>
            </p:nvSpPr>
            <p:spPr>
              <a:xfrm>
                <a:off x="142875" y="142875"/>
                <a:ext cx="2286000" cy="123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75">
                    <a:solidFill>
                      <a:srgbClr val="00E5FF"/>
                    </a:solidFill>
                    <a:latin typeface="IBM Plex Mono Medium"/>
                    <a:ea typeface="IBM Plex Mono Medium"/>
                    <a:cs typeface="IBM Plex Mono Medium"/>
                    <a:sym typeface="IBM Plex Mono Medium"/>
                  </a:rPr>
                  <a:t>[ FOREIGN TRANSLATION ]</a:t>
                </a:r>
                <a:endParaRPr b="0" sz="975">
                  <a:solidFill>
                    <a:srgbClr val="00E5FF"/>
                  </a:solidFill>
                  <a:latin typeface="IBM Plex Mono Medium"/>
                  <a:ea typeface="IBM Plex Mono Medium"/>
                  <a:cs typeface="IBM Plex Mono Medium"/>
                  <a:sym typeface="IBM Plex Mono Medium"/>
                </a:endParaRPr>
              </a:p>
              <a:p>
                <a:pPr indent="0" lvl="0" marL="0" rtl="0" algn="l">
                  <a:spcBef>
                    <a:spcPts val="450"/>
                  </a:spcBef>
                  <a:spcAft>
                    <a:spcPts val="0"/>
                  </a:spcAft>
                  <a:buNone/>
                </a:pPr>
                <a:r>
                  <a:rPr b="0" lang="en" sz="825">
                    <a:solidFill>
                      <a:srgbClr val="94A3B8"/>
                    </a:solidFill>
                    <a:latin typeface="IBM Plex Sans"/>
                    <a:ea typeface="IBM Plex Sans"/>
                    <a:cs typeface="IBM Plex Sans"/>
                    <a:sym typeface="IBM Plex Sans"/>
                  </a:rPr>
                  <a:t>Automated neural translation engines convert raw foreign aerospace preprints, patents, and military research papers into English while preserving complex technical nomenclature.</a:t>
                </a:r>
                <a:endParaRPr b="0" sz="825">
                  <a:solidFill>
                    <a:srgbClr val="94A3B8"/>
                  </a:solidFill>
                  <a:latin typeface="IBM Plex Sans"/>
                  <a:ea typeface="IBM Plex Sans"/>
                  <a:cs typeface="IBM Plex Sans"/>
                  <a:sym typeface="IBM Plex Sans"/>
                </a:endParaRPr>
              </a:p>
            </p:txBody>
          </p:sp>
        </p:grpSp>
      </p:grpSp>
      <p:grpSp>
        <p:nvGrpSpPr>
          <p:cNvPr id="350" name="Google Shape;350;p19"/>
          <p:cNvGrpSpPr/>
          <p:nvPr/>
        </p:nvGrpSpPr>
        <p:grpSpPr>
          <a:xfrm>
            <a:off x="3095625" y="1285875"/>
            <a:ext cx="2952900" cy="3190800"/>
            <a:chOff x="0" y="0"/>
            <a:chExt cx="2952900" cy="3190800"/>
          </a:xfrm>
        </p:grpSpPr>
        <p:sp>
          <p:nvSpPr>
            <p:cNvPr id="351" name="Google Shape;351;p19"/>
            <p:cNvSpPr/>
            <p:nvPr/>
          </p:nvSpPr>
          <p:spPr>
            <a:xfrm>
              <a:off x="0" y="0"/>
              <a:ext cx="2952900" cy="3190800"/>
            </a:xfrm>
            <a:prstGeom prst="rect">
              <a:avLst/>
            </a:prstGeom>
            <a:solidFill>
              <a:srgbClr val="121A26"/>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52" name="Google Shape;352;p19"/>
            <p:cNvCxnSpPr/>
            <p:nvPr/>
          </p:nvCxnSpPr>
          <p:spPr>
            <a:xfrm>
              <a:off x="0" y="381000"/>
              <a:ext cx="29529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353" name="Google Shape;353;p19"/>
            <p:cNvSpPr txBox="1"/>
            <p:nvPr/>
          </p:nvSpPr>
          <p:spPr>
            <a:xfrm>
              <a:off x="142875" y="114300"/>
              <a:ext cx="2667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75">
                  <a:solidFill>
                    <a:srgbClr val="00E5FF"/>
                  </a:solidFill>
                  <a:latin typeface="IBM Plex Mono"/>
                  <a:ea typeface="IBM Plex Mono"/>
                  <a:cs typeface="IBM Plex Mono"/>
                  <a:sym typeface="IBM Plex Mono"/>
                </a:rPr>
                <a:t>ACTIVE INTERACTIVE NODE-LINK GRAPH</a:t>
              </a:r>
              <a:endParaRPr b="0" sz="675">
                <a:solidFill>
                  <a:srgbClr val="00E5FF"/>
                </a:solidFill>
                <a:latin typeface="IBM Plex Mono"/>
                <a:ea typeface="IBM Plex Mono"/>
                <a:cs typeface="IBM Plex Mono"/>
                <a:sym typeface="IBM Plex Mono"/>
              </a:endParaRPr>
            </a:p>
          </p:txBody>
        </p:sp>
        <p:cxnSp>
          <p:nvCxnSpPr>
            <p:cNvPr id="354" name="Google Shape;354;p19"/>
            <p:cNvCxnSpPr/>
            <p:nvPr/>
          </p:nvCxnSpPr>
          <p:spPr>
            <a:xfrm rot="10800000">
              <a:off x="714375" y="1143000"/>
              <a:ext cx="762000" cy="571500"/>
            </a:xfrm>
            <a:prstGeom prst="straightConnector1">
              <a:avLst/>
            </a:prstGeom>
            <a:solidFill>
              <a:srgbClr val="FFFFFF"/>
            </a:solidFill>
            <a:ln cap="flat" cmpd="sng" w="9525">
              <a:solidFill>
                <a:srgbClr val="005B66"/>
              </a:solidFill>
              <a:prstDash val="solid"/>
              <a:round/>
              <a:headEnd len="sm" w="sm" type="none"/>
              <a:tailEnd len="sm" w="sm" type="none"/>
            </a:ln>
          </p:spPr>
        </p:cxnSp>
        <p:cxnSp>
          <p:nvCxnSpPr>
            <p:cNvPr id="355" name="Google Shape;355;p19"/>
            <p:cNvCxnSpPr/>
            <p:nvPr/>
          </p:nvCxnSpPr>
          <p:spPr>
            <a:xfrm flipH="1" rot="10800000">
              <a:off x="1476375" y="1143000"/>
              <a:ext cx="762000" cy="571500"/>
            </a:xfrm>
            <a:prstGeom prst="straightConnector1">
              <a:avLst/>
            </a:prstGeom>
            <a:solidFill>
              <a:srgbClr val="FFFFFF"/>
            </a:solidFill>
            <a:ln cap="flat" cmpd="sng" w="9525">
              <a:solidFill>
                <a:srgbClr val="005B66"/>
              </a:solidFill>
              <a:prstDash val="solid"/>
              <a:round/>
              <a:headEnd len="sm" w="sm" type="none"/>
              <a:tailEnd len="sm" w="sm" type="none"/>
            </a:ln>
          </p:spPr>
        </p:cxnSp>
        <p:cxnSp>
          <p:nvCxnSpPr>
            <p:cNvPr id="356" name="Google Shape;356;p19"/>
            <p:cNvCxnSpPr/>
            <p:nvPr/>
          </p:nvCxnSpPr>
          <p:spPr>
            <a:xfrm>
              <a:off x="1476375" y="1714500"/>
              <a:ext cx="0" cy="762000"/>
            </a:xfrm>
            <a:prstGeom prst="straightConnector1">
              <a:avLst/>
            </a:prstGeom>
            <a:solidFill>
              <a:srgbClr val="FFFFFF"/>
            </a:solidFill>
            <a:ln cap="flat" cmpd="sng" w="9525">
              <a:solidFill>
                <a:srgbClr val="005B66"/>
              </a:solidFill>
              <a:prstDash val="solid"/>
              <a:round/>
              <a:headEnd len="sm" w="sm" type="none"/>
              <a:tailEnd len="sm" w="sm" type="none"/>
            </a:ln>
          </p:spPr>
        </p:cxnSp>
        <p:pic>
          <p:nvPicPr>
            <p:cNvPr id="357" name="Google Shape;357;p19"/>
            <p:cNvPicPr preferRelativeResize="0"/>
            <p:nvPr/>
          </p:nvPicPr>
          <p:blipFill rotWithShape="1">
            <a:blip r:embed="rId3">
              <a:alphaModFix/>
            </a:blip>
            <a:srcRect b="0" l="387" r="387" t="0"/>
            <a:stretch/>
          </p:blipFill>
          <p:spPr>
            <a:xfrm>
              <a:off x="714375" y="1138238"/>
              <a:ext cx="1505100" cy="9600"/>
            </a:xfrm>
            <a:prstGeom prst="rect">
              <a:avLst/>
            </a:prstGeom>
            <a:noFill/>
            <a:ln>
              <a:noFill/>
            </a:ln>
          </p:spPr>
        </p:pic>
        <p:sp>
          <p:nvSpPr>
            <p:cNvPr id="358" name="Google Shape;358;p19"/>
            <p:cNvSpPr/>
            <p:nvPr/>
          </p:nvSpPr>
          <p:spPr>
            <a:xfrm>
              <a:off x="619125" y="1047750"/>
              <a:ext cx="190500" cy="190500"/>
            </a:xfrm>
            <a:prstGeom prst="ellipse">
              <a:avLst/>
            </a:prstGeom>
            <a:solidFill>
              <a:srgbClr val="090D14"/>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9" name="Google Shape;359;p19"/>
            <p:cNvSpPr/>
            <p:nvPr/>
          </p:nvSpPr>
          <p:spPr>
            <a:xfrm>
              <a:off x="2143125" y="1047750"/>
              <a:ext cx="190500" cy="190500"/>
            </a:xfrm>
            <a:prstGeom prst="ellipse">
              <a:avLst/>
            </a:prstGeom>
            <a:solidFill>
              <a:srgbClr val="090D14"/>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19"/>
            <p:cNvSpPr/>
            <p:nvPr/>
          </p:nvSpPr>
          <p:spPr>
            <a:xfrm>
              <a:off x="2209800" y="1114425"/>
              <a:ext cx="57300" cy="573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1" name="Google Shape;361;p19"/>
            <p:cNvSpPr/>
            <p:nvPr/>
          </p:nvSpPr>
          <p:spPr>
            <a:xfrm>
              <a:off x="1428750" y="1666875"/>
              <a:ext cx="95400" cy="95400"/>
            </a:xfrm>
            <a:prstGeom prst="ellipse">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19"/>
            <p:cNvSpPr/>
            <p:nvPr/>
          </p:nvSpPr>
          <p:spPr>
            <a:xfrm>
              <a:off x="1381125" y="2381250"/>
              <a:ext cx="190500" cy="190500"/>
            </a:xfrm>
            <a:prstGeom prst="ellipse">
              <a:avLst/>
            </a:prstGeom>
            <a:solidFill>
              <a:srgbClr val="090D14"/>
            </a:solidFill>
            <a:ln cap="flat" cmpd="sng" w="14300">
              <a:solidFill>
                <a:srgbClr val="FFB3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3" name="Google Shape;363;p19"/>
            <p:cNvSpPr/>
            <p:nvPr/>
          </p:nvSpPr>
          <p:spPr>
            <a:xfrm>
              <a:off x="1447800" y="2447925"/>
              <a:ext cx="57300" cy="57300"/>
            </a:xfrm>
            <a:prstGeom prst="ellipse">
              <a:avLst/>
            </a:prstGeom>
            <a:solidFill>
              <a:srgbClr val="FFB34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64" name="Google Shape;364;p19"/>
          <p:cNvGrpSpPr/>
          <p:nvPr/>
        </p:nvGrpSpPr>
        <p:grpSpPr>
          <a:xfrm>
            <a:off x="6191250" y="1285875"/>
            <a:ext cx="2571900" cy="3190800"/>
            <a:chOff x="0" y="0"/>
            <a:chExt cx="2571900" cy="3190800"/>
          </a:xfrm>
        </p:grpSpPr>
        <p:sp>
          <p:nvSpPr>
            <p:cNvPr id="365" name="Google Shape;365;p19"/>
            <p:cNvSpPr/>
            <p:nvPr/>
          </p:nvSpPr>
          <p:spPr>
            <a:xfrm>
              <a:off x="0" y="0"/>
              <a:ext cx="2571900" cy="3190800"/>
            </a:xfrm>
            <a:prstGeom prst="rect">
              <a:avLst/>
            </a:prstGeom>
            <a:solidFill>
              <a:srgbClr val="121A26"/>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66" name="Google Shape;366;p19"/>
            <p:cNvCxnSpPr/>
            <p:nvPr/>
          </p:nvCxnSpPr>
          <p:spPr>
            <a:xfrm>
              <a:off x="0" y="381000"/>
              <a:ext cx="25719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367" name="Google Shape;367;p19"/>
            <p:cNvSpPr txBox="1"/>
            <p:nvPr/>
          </p:nvSpPr>
          <p:spPr>
            <a:xfrm>
              <a:off x="142875" y="114300"/>
              <a:ext cx="2286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675">
                  <a:solidFill>
                    <a:srgbClr val="00E5FF"/>
                  </a:solidFill>
                  <a:latin typeface="IBM Plex Mono"/>
                  <a:ea typeface="IBM Plex Mono"/>
                  <a:cs typeface="IBM Plex Mono"/>
                  <a:sym typeface="IBM Plex Mono"/>
                </a:rPr>
                <a:t>AI COGNITIVE EXTRACTION PANEL</a:t>
              </a:r>
              <a:endParaRPr b="0" sz="675">
                <a:solidFill>
                  <a:srgbClr val="00E5FF"/>
                </a:solidFill>
                <a:latin typeface="IBM Plex Mono"/>
                <a:ea typeface="IBM Plex Mono"/>
                <a:cs typeface="IBM Plex Mono"/>
                <a:sym typeface="IBM Plex Mono"/>
              </a:endParaRPr>
            </a:p>
          </p:txBody>
        </p:sp>
        <p:sp>
          <p:nvSpPr>
            <p:cNvPr id="368" name="Google Shape;368;p19"/>
            <p:cNvSpPr txBox="1"/>
            <p:nvPr/>
          </p:nvSpPr>
          <p:spPr>
            <a:xfrm>
              <a:off x="142875" y="523875"/>
              <a:ext cx="2286000" cy="257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00E5FF"/>
                  </a:solidFill>
                  <a:latin typeface="IBM Plex Sans SemiBold"/>
                  <a:ea typeface="IBM Plex Sans SemiBold"/>
                  <a:cs typeface="IBM Plex Sans SemiBold"/>
                  <a:sym typeface="IBM Plex Sans SemiBold"/>
                </a:rPr>
                <a:t>[ PDF SUMMARIZATION ]</a:t>
              </a:r>
              <a:endParaRPr b="0" sz="900">
                <a:solidFill>
                  <a:srgbClr val="00E5FF"/>
                </a:solidFill>
                <a:latin typeface="IBM Plex Sans SemiBold"/>
                <a:ea typeface="IBM Plex Sans SemiBold"/>
                <a:cs typeface="IBM Plex Sans SemiBold"/>
                <a:sym typeface="IBM Plex Sans SemiBold"/>
              </a:endParaRPr>
            </a:p>
            <a:p>
              <a:pPr indent="0" lvl="0" marL="0" rtl="0" algn="l">
                <a:spcBef>
                  <a:spcPts val="225"/>
                </a:spcBef>
                <a:spcAft>
                  <a:spcPts val="0"/>
                </a:spcAft>
                <a:buNone/>
              </a:pPr>
              <a:r>
                <a:rPr b="0" lang="en" sz="825">
                  <a:solidFill>
                    <a:srgbClr val="94A3B8"/>
                  </a:solidFill>
                  <a:latin typeface="IBM Plex Sans"/>
                  <a:ea typeface="IBM Plex Sans"/>
                  <a:cs typeface="IBM Plex Sans"/>
                  <a:sym typeface="IBM Plex Sans"/>
                </a:rPr>
                <a:t>Generates multi-level, structured summaries of complex technical documents, extracting core scientific methodologies and testing parameters instantly.</a:t>
              </a:r>
              <a:endParaRPr b="0" sz="825">
                <a:solidFill>
                  <a:srgbClr val="94A3B8"/>
                </a:solidFill>
                <a:latin typeface="IBM Plex Sans"/>
                <a:ea typeface="IBM Plex Sans"/>
                <a:cs typeface="IBM Plex Sans"/>
                <a:sym typeface="IBM Plex Sans"/>
              </a:endParaRPr>
            </a:p>
            <a:p>
              <a:pPr indent="0" lvl="0" marL="0" rtl="0" algn="l">
                <a:spcBef>
                  <a:spcPts val="600"/>
                </a:spcBef>
                <a:spcAft>
                  <a:spcPts val="0"/>
                </a:spcAft>
                <a:buNone/>
              </a:pPr>
              <a:r>
                <a:rPr b="0" lang="en" sz="900">
                  <a:solidFill>
                    <a:srgbClr val="00E5FF"/>
                  </a:solidFill>
                  <a:latin typeface="IBM Plex Sans SemiBold"/>
                  <a:ea typeface="IBM Plex Sans SemiBold"/>
                  <a:cs typeface="IBM Plex Sans SemiBold"/>
                  <a:sym typeface="IBM Plex Sans SemiBold"/>
                </a:rPr>
                <a:t>[ KEYWORD ANALYSIS ]</a:t>
              </a:r>
              <a:endParaRPr b="0" sz="900">
                <a:solidFill>
                  <a:srgbClr val="00E5FF"/>
                </a:solidFill>
                <a:latin typeface="IBM Plex Sans SemiBold"/>
                <a:ea typeface="IBM Plex Sans SemiBold"/>
                <a:cs typeface="IBM Plex Sans SemiBold"/>
                <a:sym typeface="IBM Plex Sans SemiBold"/>
              </a:endParaRPr>
            </a:p>
            <a:p>
              <a:pPr indent="0" lvl="0" marL="0" rtl="0" algn="l">
                <a:spcBef>
                  <a:spcPts val="225"/>
                </a:spcBef>
                <a:spcAft>
                  <a:spcPts val="0"/>
                </a:spcAft>
                <a:buNone/>
              </a:pPr>
              <a:r>
                <a:rPr b="0" lang="en" sz="825">
                  <a:solidFill>
                    <a:srgbClr val="94A3B8"/>
                  </a:solidFill>
                  <a:latin typeface="IBM Plex Sans"/>
                  <a:ea typeface="IBM Plex Sans"/>
                  <a:cs typeface="IBM Plex Sans"/>
                  <a:sym typeface="IBM Plex Sans"/>
                </a:rPr>
                <a:t>Sifts through translated corpora to isolate strategic keywords, military-industrial codes, and institutional names to map underlying development networks.</a:t>
              </a:r>
              <a:endParaRPr b="0" sz="825">
                <a:solidFill>
                  <a:srgbClr val="94A3B8"/>
                </a:solidFill>
                <a:latin typeface="IBM Plex Sans"/>
                <a:ea typeface="IBM Plex Sans"/>
                <a:cs typeface="IBM Plex Sans"/>
                <a:sym typeface="IBM Plex Sans"/>
              </a:endParaRPr>
            </a:p>
          </p:txBody>
        </p:sp>
      </p:grpSp>
      <p:sp>
        <p:nvSpPr>
          <p:cNvPr id="369" name="Google Shape;369;p19"/>
          <p:cNvSpPr/>
          <p:nvPr/>
        </p:nvSpPr>
        <p:spPr>
          <a:xfrm>
            <a:off x="381000" y="4619625"/>
            <a:ext cx="8382000" cy="190500"/>
          </a:xfrm>
          <a:prstGeom prst="rect">
            <a:avLst/>
          </a:prstGeom>
          <a:solidFill>
            <a:srgbClr val="121A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19"/>
          <p:cNvSpPr txBox="1"/>
          <p:nvPr/>
        </p:nvSpPr>
        <p:spPr>
          <a:xfrm>
            <a:off x="476250" y="4638675"/>
            <a:ext cx="8191500" cy="14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675">
                <a:solidFill>
                  <a:srgbClr val="475569"/>
                </a:solidFill>
                <a:latin typeface="IBM Plex Mono"/>
                <a:ea typeface="IBM Plex Mono"/>
                <a:cs typeface="IBM Plex Mono"/>
                <a:sym typeface="IBM Plex Mono"/>
              </a:rPr>
              <a:t>STATUS: SECURE // LINK: STABLE // RENDER: PROGRESSIVE DISCOVERY MODE ACTIVE // CLASSIFICATION: TOP SECRET</a:t>
            </a:r>
            <a:endParaRPr b="0" sz="675">
              <a:solidFill>
                <a:srgbClr val="475569"/>
              </a:solidFill>
              <a:latin typeface="IBM Plex Mono"/>
              <a:ea typeface="IBM Plex Mono"/>
              <a:cs typeface="IBM Plex Mono"/>
              <a:sym typeface="IBM Plex Mono"/>
            </a:endParaRPr>
          </a:p>
        </p:txBody>
      </p:sp>
      <p:pic>
        <p:nvPicPr>
          <p:cNvPr id="371" name="Google Shape;371;p19"/>
          <p:cNvPicPr preferRelativeResize="0"/>
          <p:nvPr/>
        </p:nvPicPr>
        <p:blipFill>
          <a:blip r:embed="rId4">
            <a:alphaModFix/>
          </a:blip>
          <a:stretch>
            <a:fillRect/>
          </a:stretch>
        </p:blipFill>
        <p:spPr>
          <a:xfrm>
            <a:off x="3095625" y="1285875"/>
            <a:ext cx="2952899" cy="1266375"/>
          </a:xfrm>
          <a:prstGeom prst="rect">
            <a:avLst/>
          </a:prstGeom>
          <a:noFill/>
          <a:ln>
            <a:noFill/>
          </a:ln>
        </p:spPr>
      </p:pic>
      <p:pic>
        <p:nvPicPr>
          <p:cNvPr id="372" name="Google Shape;372;p19"/>
          <p:cNvPicPr preferRelativeResize="0"/>
          <p:nvPr/>
        </p:nvPicPr>
        <p:blipFill>
          <a:blip r:embed="rId5">
            <a:alphaModFix/>
          </a:blip>
          <a:stretch>
            <a:fillRect/>
          </a:stretch>
        </p:blipFill>
        <p:spPr>
          <a:xfrm>
            <a:off x="3095625" y="2571750"/>
            <a:ext cx="2952900" cy="19049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20"/>
          <p:cNvSpPr/>
          <p:nvPr/>
        </p:nvSpPr>
        <p:spPr>
          <a:xfrm>
            <a:off x="0" y="0"/>
            <a:ext cx="9144000" cy="5143500"/>
          </a:xfrm>
          <a:prstGeom prst="rect">
            <a:avLst/>
          </a:prstGeom>
          <a:solidFill>
            <a:srgbClr val="090D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78" name="Google Shape;378;p20"/>
          <p:cNvGrpSpPr/>
          <p:nvPr/>
        </p:nvGrpSpPr>
        <p:grpSpPr>
          <a:xfrm>
            <a:off x="190500" y="190500"/>
            <a:ext cx="8763000" cy="4762500"/>
            <a:chOff x="190500" y="190500"/>
            <a:chExt cx="8763000" cy="4762500"/>
          </a:xfrm>
        </p:grpSpPr>
        <p:sp>
          <p:nvSpPr>
            <p:cNvPr id="379" name="Google Shape;379;p20"/>
            <p:cNvSpPr/>
            <p:nvPr/>
          </p:nvSpPr>
          <p:spPr>
            <a:xfrm>
              <a:off x="190500" y="190500"/>
              <a:ext cx="190500" cy="190500"/>
            </a:xfrm>
            <a:custGeom>
              <a:rect b="b" l="l" r="r" t="t"/>
              <a:pathLst>
                <a:path extrusionOk="0" h="120000" w="120000">
                  <a:moveTo>
                    <a:pt x="0" y="120000"/>
                  </a:moveTo>
                  <a:lnTo>
                    <a:pt x="0" y="0"/>
                  </a:lnTo>
                  <a:lnTo>
                    <a:pt x="120000" y="0"/>
                  </a:lnTo>
                </a:path>
              </a:pathLst>
            </a:cu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0" name="Google Shape;380;p20"/>
            <p:cNvSpPr/>
            <p:nvPr/>
          </p:nvSpPr>
          <p:spPr>
            <a:xfrm>
              <a:off x="8763000" y="190500"/>
              <a:ext cx="190500" cy="190500"/>
            </a:xfrm>
            <a:custGeom>
              <a:rect b="b" l="l" r="r" t="t"/>
              <a:pathLst>
                <a:path extrusionOk="0" h="120000" w="120000">
                  <a:moveTo>
                    <a:pt x="120000" y="120000"/>
                  </a:moveTo>
                  <a:lnTo>
                    <a:pt x="120000" y="0"/>
                  </a:lnTo>
                  <a:lnTo>
                    <a:pt x="0" y="0"/>
                  </a:lnTo>
                </a:path>
              </a:pathLst>
            </a:cu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20"/>
            <p:cNvSpPr/>
            <p:nvPr/>
          </p:nvSpPr>
          <p:spPr>
            <a:xfrm>
              <a:off x="190500" y="4762500"/>
              <a:ext cx="190500" cy="190500"/>
            </a:xfrm>
            <a:custGeom>
              <a:rect b="b" l="l" r="r" t="t"/>
              <a:pathLst>
                <a:path extrusionOk="0" h="120000" w="120000">
                  <a:moveTo>
                    <a:pt x="0" y="0"/>
                  </a:moveTo>
                  <a:lnTo>
                    <a:pt x="0" y="120000"/>
                  </a:lnTo>
                  <a:lnTo>
                    <a:pt x="120000" y="120000"/>
                  </a:lnTo>
                </a:path>
              </a:pathLst>
            </a:cu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2" name="Google Shape;382;p20"/>
            <p:cNvSpPr/>
            <p:nvPr/>
          </p:nvSpPr>
          <p:spPr>
            <a:xfrm>
              <a:off x="8763000" y="4762500"/>
              <a:ext cx="190500" cy="190500"/>
            </a:xfrm>
            <a:custGeom>
              <a:rect b="b" l="l" r="r" t="t"/>
              <a:pathLst>
                <a:path extrusionOk="0" h="120000" w="120000">
                  <a:moveTo>
                    <a:pt x="120000" y="0"/>
                  </a:moveTo>
                  <a:lnTo>
                    <a:pt x="120000" y="120000"/>
                  </a:lnTo>
                  <a:lnTo>
                    <a:pt x="0" y="120000"/>
                  </a:lnTo>
                </a:path>
              </a:pathLst>
            </a:custGeom>
            <a:solidFill>
              <a:srgbClr val="000000">
                <a:alpha val="0"/>
              </a:srgbClr>
            </a:solidFill>
            <a:ln cap="flat" cmpd="sng" w="9525">
              <a:solidFill>
                <a:srgbClr val="005B6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83" name="Google Shape;383;p20"/>
          <p:cNvGrpSpPr/>
          <p:nvPr/>
        </p:nvGrpSpPr>
        <p:grpSpPr>
          <a:xfrm>
            <a:off x="381000" y="219075"/>
            <a:ext cx="5810250" cy="171600"/>
            <a:chOff x="0" y="-19050"/>
            <a:chExt cx="5810250" cy="171600"/>
          </a:xfrm>
        </p:grpSpPr>
        <p:sp>
          <p:nvSpPr>
            <p:cNvPr id="384" name="Google Shape;384;p20"/>
            <p:cNvSpPr/>
            <p:nvPr/>
          </p:nvSpPr>
          <p:spPr>
            <a:xfrm>
              <a:off x="0" y="0"/>
              <a:ext cx="28500" cy="1143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5" name="Google Shape;385;p20"/>
            <p:cNvSpPr txBox="1"/>
            <p:nvPr/>
          </p:nvSpPr>
          <p:spPr>
            <a:xfrm>
              <a:off x="95250" y="-19050"/>
              <a:ext cx="5715000" cy="171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475569"/>
                  </a:solidFill>
                  <a:latin typeface="IBM Plex Mono"/>
                  <a:ea typeface="IBM Plex Mono"/>
                  <a:cs typeface="IBM Plex Mono"/>
                  <a:sym typeface="IBM Plex Mono"/>
                </a:rPr>
                <a:t>SYS.OP // PROJECT TURNCOAT // DOWN-SELECT STRATEGY // TRK-100</a:t>
              </a:r>
              <a:endParaRPr b="0" sz="750">
                <a:solidFill>
                  <a:srgbClr val="475569"/>
                </a:solidFill>
                <a:latin typeface="IBM Plex Mono"/>
                <a:ea typeface="IBM Plex Mono"/>
                <a:cs typeface="IBM Plex Mono"/>
                <a:sym typeface="IBM Plex Mono"/>
              </a:endParaRPr>
            </a:p>
          </p:txBody>
        </p:sp>
      </p:grpSp>
      <p:sp>
        <p:nvSpPr>
          <p:cNvPr id="386" name="Google Shape;386;p20"/>
          <p:cNvSpPr txBox="1"/>
          <p:nvPr/>
        </p:nvSpPr>
        <p:spPr>
          <a:xfrm>
            <a:off x="381000" y="428625"/>
            <a:ext cx="838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88">
                <a:solidFill>
                  <a:srgbClr val="E2E8F0"/>
                </a:solidFill>
                <a:latin typeface="IBM Plex Sans"/>
                <a:ea typeface="IBM Plex Sans"/>
                <a:cs typeface="IBM Plex Sans"/>
                <a:sym typeface="IBM Plex Sans"/>
              </a:rPr>
              <a:t>DOWN-SELECT ROADMAP: ADVANCED COGNITIVE ANALYTICS &amp; SUPPLY CHAIN PREDICTION</a:t>
            </a:r>
            <a:endParaRPr b="1" sz="1388">
              <a:solidFill>
                <a:srgbClr val="E2E8F0"/>
              </a:solidFill>
              <a:latin typeface="IBM Plex Sans"/>
              <a:ea typeface="IBM Plex Sans"/>
              <a:cs typeface="IBM Plex Sans"/>
              <a:sym typeface="IBM Plex Sans"/>
            </a:endParaRPr>
          </a:p>
        </p:txBody>
      </p:sp>
      <p:grpSp>
        <p:nvGrpSpPr>
          <p:cNvPr id="387" name="Google Shape;387;p20"/>
          <p:cNvGrpSpPr/>
          <p:nvPr/>
        </p:nvGrpSpPr>
        <p:grpSpPr>
          <a:xfrm>
            <a:off x="381000" y="952500"/>
            <a:ext cx="4000500" cy="1714500"/>
            <a:chOff x="0" y="0"/>
            <a:chExt cx="4000500" cy="1714500"/>
          </a:xfrm>
        </p:grpSpPr>
        <p:sp>
          <p:nvSpPr>
            <p:cNvPr id="388" name="Google Shape;388;p20"/>
            <p:cNvSpPr/>
            <p:nvPr/>
          </p:nvSpPr>
          <p:spPr>
            <a:xfrm>
              <a:off x="0" y="0"/>
              <a:ext cx="4000500" cy="1714500"/>
            </a:xfrm>
            <a:prstGeom prst="rect">
              <a:avLst/>
            </a:prstGeom>
            <a:solidFill>
              <a:srgbClr val="121A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20"/>
            <p:cNvSpPr/>
            <p:nvPr/>
          </p:nvSpPr>
          <p:spPr>
            <a:xfrm>
              <a:off x="0" y="0"/>
              <a:ext cx="28500" cy="17145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0" name="Google Shape;390;p20"/>
            <p:cNvSpPr txBox="1"/>
            <p:nvPr/>
          </p:nvSpPr>
          <p:spPr>
            <a:xfrm>
              <a:off x="142875" y="142875"/>
              <a:ext cx="37149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25">
                  <a:solidFill>
                    <a:srgbClr val="00E5FF"/>
                  </a:solidFill>
                  <a:latin typeface="IBM Plex Mono SemiBold"/>
                  <a:ea typeface="IBM Plex Mono SemiBold"/>
                  <a:cs typeface="IBM Plex Mono SemiBold"/>
                  <a:sym typeface="IBM Plex Mono SemiBold"/>
                </a:rPr>
                <a:t>[ PHASE I: ANALYTICS, TAGGING &amp; COGNITIVE INFERENCE ]</a:t>
              </a:r>
              <a:endParaRPr b="0" sz="925">
                <a:solidFill>
                  <a:srgbClr val="00E5FF"/>
                </a:solidFill>
                <a:latin typeface="IBM Plex Mono SemiBold"/>
                <a:ea typeface="IBM Plex Mono SemiBold"/>
                <a:cs typeface="IBM Plex Mono SemiBold"/>
                <a:sym typeface="IBM Plex Mono SemiBold"/>
              </a:endParaRPr>
            </a:p>
            <a:p>
              <a:pPr indent="0" lvl="0" marL="0" rtl="0" algn="l">
                <a:spcBef>
                  <a:spcPts val="600"/>
                </a:spcBef>
                <a:spcAft>
                  <a:spcPts val="0"/>
                </a:spcAft>
                <a:buNone/>
              </a:pPr>
              <a:r>
                <a:rPr b="0" lang="en" sz="850">
                  <a:solidFill>
                    <a:srgbClr val="00E5FF"/>
                  </a:solidFill>
                  <a:latin typeface="IBM Plex Sans SemiBold"/>
                  <a:ea typeface="IBM Plex Sans SemiBold"/>
                  <a:cs typeface="IBM Plex Sans SemiBold"/>
                  <a:sym typeface="IBM Plex Sans SemiBold"/>
                </a:rPr>
                <a:t>Improved Analytics &amp; Tagging</a:t>
              </a:r>
              <a:br>
                <a:rPr b="0" lang="en" sz="850">
                  <a:solidFill>
                    <a:srgbClr val="94A3B8"/>
                  </a:solidFill>
                  <a:latin typeface="IBM Plex Sans"/>
                  <a:ea typeface="IBM Plex Sans"/>
                  <a:cs typeface="IBM Plex Sans"/>
                  <a:sym typeface="IBM Plex Sans"/>
                </a:rPr>
              </a:br>
              <a:r>
                <a:rPr b="0" lang="en" sz="850">
                  <a:solidFill>
                    <a:srgbClr val="94A3B8"/>
                  </a:solidFill>
                  <a:latin typeface="IBM Plex Sans"/>
                  <a:ea typeface="IBM Plex Sans"/>
                  <a:cs typeface="IBM Plex Sans"/>
                  <a:sym typeface="IBM Plex Sans"/>
                </a:rPr>
                <a:t>Integration of automated NLP taxonomy generators to auto-tag raw research with military codes and standardized aerospace nomenclature.</a:t>
              </a:r>
              <a:endParaRPr b="0" sz="850">
                <a:solidFill>
                  <a:srgbClr val="94A3B8"/>
                </a:solidFill>
                <a:latin typeface="IBM Plex Sans"/>
                <a:ea typeface="IBM Plex Sans"/>
                <a:cs typeface="IBM Plex Sans"/>
                <a:sym typeface="IBM Plex Sans"/>
              </a:endParaRPr>
            </a:p>
            <a:p>
              <a:pPr indent="0" lvl="0" marL="0" rtl="0" algn="l">
                <a:spcBef>
                  <a:spcPts val="450"/>
                </a:spcBef>
                <a:spcAft>
                  <a:spcPts val="0"/>
                </a:spcAft>
                <a:buNone/>
              </a:pPr>
              <a:r>
                <a:rPr b="0" lang="en" sz="850">
                  <a:solidFill>
                    <a:srgbClr val="00E5FF"/>
                  </a:solidFill>
                  <a:latin typeface="IBM Plex Sans SemiBold"/>
                  <a:ea typeface="IBM Plex Sans SemiBold"/>
                  <a:cs typeface="IBM Plex Sans SemiBold"/>
                  <a:sym typeface="IBM Plex Sans SemiBold"/>
                </a:rPr>
                <a:t>Enhanced AI Inference</a:t>
              </a:r>
              <a:br>
                <a:rPr b="0" lang="en" sz="850">
                  <a:solidFill>
                    <a:srgbClr val="94A3B8"/>
                  </a:solidFill>
                  <a:latin typeface="IBM Plex Sans"/>
                  <a:ea typeface="IBM Plex Sans"/>
                  <a:cs typeface="IBM Plex Sans"/>
                  <a:sym typeface="IBM Plex Sans"/>
                </a:rPr>
              </a:br>
              <a:r>
                <a:rPr b="0" lang="en" sz="850">
                  <a:solidFill>
                    <a:srgbClr val="94A3B8"/>
                  </a:solidFill>
                  <a:latin typeface="IBM Plex Sans"/>
                  <a:ea typeface="IBM Plex Sans"/>
                  <a:cs typeface="IBM Plex Sans"/>
                  <a:sym typeface="IBM Plex Sans"/>
                </a:rPr>
                <a:t>Transitioning models to a multi-agent routing pipeline, dramatically increasing local extraction speed and technical keyword classification accuracy.</a:t>
              </a:r>
              <a:endParaRPr b="0" sz="850">
                <a:solidFill>
                  <a:srgbClr val="94A3B8"/>
                </a:solidFill>
                <a:latin typeface="IBM Plex Sans"/>
                <a:ea typeface="IBM Plex Sans"/>
                <a:cs typeface="IBM Plex Sans"/>
                <a:sym typeface="IBM Plex Sans"/>
              </a:endParaRPr>
            </a:p>
          </p:txBody>
        </p:sp>
      </p:grpSp>
      <p:grpSp>
        <p:nvGrpSpPr>
          <p:cNvPr id="391" name="Google Shape;391;p20"/>
          <p:cNvGrpSpPr/>
          <p:nvPr/>
        </p:nvGrpSpPr>
        <p:grpSpPr>
          <a:xfrm>
            <a:off x="381000" y="2809875"/>
            <a:ext cx="4000500" cy="1714500"/>
            <a:chOff x="0" y="0"/>
            <a:chExt cx="4000500" cy="1714500"/>
          </a:xfrm>
        </p:grpSpPr>
        <p:sp>
          <p:nvSpPr>
            <p:cNvPr id="392" name="Google Shape;392;p20"/>
            <p:cNvSpPr/>
            <p:nvPr/>
          </p:nvSpPr>
          <p:spPr>
            <a:xfrm>
              <a:off x="0" y="0"/>
              <a:ext cx="4000500" cy="1714500"/>
            </a:xfrm>
            <a:prstGeom prst="rect">
              <a:avLst/>
            </a:prstGeom>
            <a:solidFill>
              <a:srgbClr val="121A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3" name="Google Shape;393;p20"/>
            <p:cNvSpPr/>
            <p:nvPr/>
          </p:nvSpPr>
          <p:spPr>
            <a:xfrm>
              <a:off x="0" y="0"/>
              <a:ext cx="28500" cy="1714500"/>
            </a:xfrm>
            <a:prstGeom prst="rect">
              <a:avLst/>
            </a:prstGeom>
            <a:solidFill>
              <a:srgbClr val="000000">
                <a:alpha val="0"/>
              </a:srgbClr>
            </a:solidFill>
            <a:ln cap="flat" cmpd="sng" w="28575">
              <a:solidFill>
                <a:srgbClr val="FFB3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4" name="Google Shape;394;p20"/>
            <p:cNvSpPr txBox="1"/>
            <p:nvPr/>
          </p:nvSpPr>
          <p:spPr>
            <a:xfrm>
              <a:off x="142875" y="142875"/>
              <a:ext cx="37149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25">
                  <a:solidFill>
                    <a:srgbClr val="00E5FF"/>
                  </a:solidFill>
                  <a:latin typeface="IBM Plex Mono SemiBold"/>
                  <a:ea typeface="IBM Plex Mono SemiBold"/>
                  <a:cs typeface="IBM Plex Mono SemiBold"/>
                  <a:sym typeface="IBM Plex Mono SemiBold"/>
                </a:rPr>
                <a:t>[ PHASE II: END-TO-END SUPPLY CHAIN PREDICTION ]</a:t>
              </a:r>
              <a:endParaRPr b="0" sz="925">
                <a:solidFill>
                  <a:srgbClr val="00E5FF"/>
                </a:solidFill>
                <a:latin typeface="IBM Plex Mono SemiBold"/>
                <a:ea typeface="IBM Plex Mono SemiBold"/>
                <a:cs typeface="IBM Plex Mono SemiBold"/>
                <a:sym typeface="IBM Plex Mono SemiBold"/>
              </a:endParaRPr>
            </a:p>
            <a:p>
              <a:pPr indent="0" lvl="0" marL="0" rtl="0" algn="l">
                <a:spcBef>
                  <a:spcPts val="600"/>
                </a:spcBef>
                <a:spcAft>
                  <a:spcPts val="0"/>
                </a:spcAft>
                <a:buNone/>
              </a:pPr>
              <a:r>
                <a:rPr b="0" lang="en" sz="850">
                  <a:solidFill>
                    <a:srgbClr val="FFB347"/>
                  </a:solidFill>
                  <a:latin typeface="IBM Plex Sans SemiBold"/>
                  <a:ea typeface="IBM Plex Sans SemiBold"/>
                  <a:cs typeface="IBM Plex Sans SemiBold"/>
                  <a:sym typeface="IBM Plex Sans SemiBold"/>
                </a:rPr>
                <a:t>Full Supply Chain Mapping</a:t>
              </a:r>
              <a:br>
                <a:rPr b="0" lang="en" sz="850">
                  <a:solidFill>
                    <a:srgbClr val="94A3B8"/>
                  </a:solidFill>
                  <a:latin typeface="IBM Plex Sans"/>
                  <a:ea typeface="IBM Plex Sans"/>
                  <a:cs typeface="IBM Plex Sans"/>
                  <a:sym typeface="IBM Plex Sans"/>
                </a:rPr>
              </a:br>
              <a:r>
                <a:rPr b="0" lang="en" sz="850">
                  <a:solidFill>
                    <a:srgbClr val="94A3B8"/>
                  </a:solidFill>
                  <a:latin typeface="IBM Plex Sans"/>
                  <a:ea typeface="IBM Plex Sans"/>
                  <a:cs typeface="IBM Plex Sans"/>
                  <a:sym typeface="IBM Plex Sans"/>
                </a:rPr>
                <a:t>Scaling node-link graph capabilities from isolated researchers to map the entire industrial base—correlating precursors, tooling, and end-stage delivery.</a:t>
              </a:r>
              <a:endParaRPr b="0" sz="850">
                <a:solidFill>
                  <a:srgbClr val="94A3B8"/>
                </a:solidFill>
                <a:latin typeface="IBM Plex Sans"/>
                <a:ea typeface="IBM Plex Sans"/>
                <a:cs typeface="IBM Plex Sans"/>
                <a:sym typeface="IBM Plex Sans"/>
              </a:endParaRPr>
            </a:p>
            <a:p>
              <a:pPr indent="0" lvl="0" marL="0" rtl="0" algn="l">
                <a:spcBef>
                  <a:spcPts val="450"/>
                </a:spcBef>
                <a:spcAft>
                  <a:spcPts val="0"/>
                </a:spcAft>
                <a:buNone/>
              </a:pPr>
              <a:r>
                <a:rPr b="0" lang="en" sz="850">
                  <a:solidFill>
                    <a:srgbClr val="FFB347"/>
                  </a:solidFill>
                  <a:latin typeface="IBM Plex Sans SemiBold"/>
                  <a:ea typeface="IBM Plex Sans SemiBold"/>
                  <a:cs typeface="IBM Plex Sans SemiBold"/>
                  <a:sym typeface="IBM Plex Sans SemiBold"/>
                </a:rPr>
                <a:t>Chokepoint Discovery</a:t>
              </a:r>
              <a:br>
                <a:rPr b="0" lang="en" sz="850">
                  <a:solidFill>
                    <a:srgbClr val="94A3B8"/>
                  </a:solidFill>
                  <a:latin typeface="IBM Plex Sans"/>
                  <a:ea typeface="IBM Plex Sans"/>
                  <a:cs typeface="IBM Plex Sans"/>
                  <a:sym typeface="IBM Plex Sans"/>
                </a:rPr>
              </a:br>
              <a:r>
                <a:rPr b="0" lang="en" sz="850">
                  <a:solidFill>
                    <a:srgbClr val="94A3B8"/>
                  </a:solidFill>
                  <a:latin typeface="IBM Plex Sans"/>
                  <a:ea typeface="IBM Plex Sans"/>
                  <a:cs typeface="IBM Plex Sans"/>
                  <a:sym typeface="IBM Plex Sans"/>
                </a:rPr>
                <a:t>Identifying critical structural dependencies where single-source manufacturers or specialized alloys threaten adversary scaling efforts.</a:t>
              </a:r>
              <a:endParaRPr b="0" sz="850">
                <a:solidFill>
                  <a:srgbClr val="94A3B8"/>
                </a:solidFill>
                <a:latin typeface="IBM Plex Sans"/>
                <a:ea typeface="IBM Plex Sans"/>
                <a:cs typeface="IBM Plex Sans"/>
                <a:sym typeface="IBM Plex Sans"/>
              </a:endParaRPr>
            </a:p>
          </p:txBody>
        </p:sp>
      </p:grpSp>
      <p:grpSp>
        <p:nvGrpSpPr>
          <p:cNvPr id="395" name="Google Shape;395;p20"/>
          <p:cNvGrpSpPr/>
          <p:nvPr/>
        </p:nvGrpSpPr>
        <p:grpSpPr>
          <a:xfrm>
            <a:off x="4762500" y="952500"/>
            <a:ext cx="4000500" cy="3571800"/>
            <a:chOff x="0" y="0"/>
            <a:chExt cx="4000500" cy="3571800"/>
          </a:xfrm>
        </p:grpSpPr>
        <p:sp>
          <p:nvSpPr>
            <p:cNvPr id="396" name="Google Shape;396;p20"/>
            <p:cNvSpPr/>
            <p:nvPr/>
          </p:nvSpPr>
          <p:spPr>
            <a:xfrm>
              <a:off x="0" y="0"/>
              <a:ext cx="4000500" cy="3571800"/>
            </a:xfrm>
            <a:prstGeom prst="rect">
              <a:avLst/>
            </a:prstGeom>
            <a:solidFill>
              <a:srgbClr val="121A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397" name="Google Shape;397;p20"/>
            <p:cNvCxnSpPr/>
            <p:nvPr/>
          </p:nvCxnSpPr>
          <p:spPr>
            <a:xfrm>
              <a:off x="0" y="381000"/>
              <a:ext cx="4000500" cy="0"/>
            </a:xfrm>
            <a:prstGeom prst="straightConnector1">
              <a:avLst/>
            </a:prstGeom>
            <a:solidFill>
              <a:srgbClr val="FFFFFF"/>
            </a:solidFill>
            <a:ln cap="flat" cmpd="sng" w="9525">
              <a:solidFill>
                <a:srgbClr val="1E293B"/>
              </a:solidFill>
              <a:prstDash val="solid"/>
              <a:round/>
              <a:headEnd len="sm" w="sm" type="none"/>
              <a:tailEnd len="sm" w="sm" type="none"/>
            </a:ln>
          </p:spPr>
        </p:cxnSp>
        <p:sp>
          <p:nvSpPr>
            <p:cNvPr id="398" name="Google Shape;398;p20"/>
            <p:cNvSpPr txBox="1"/>
            <p:nvPr/>
          </p:nvSpPr>
          <p:spPr>
            <a:xfrm>
              <a:off x="142875" y="114300"/>
              <a:ext cx="2667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25">
                  <a:solidFill>
                    <a:srgbClr val="00E5FF"/>
                  </a:solidFill>
                  <a:latin typeface="IBM Plex Mono SemiBold"/>
                  <a:ea typeface="IBM Plex Mono SemiBold"/>
                  <a:cs typeface="IBM Plex Mono SemiBold"/>
                  <a:sym typeface="IBM Plex Mono SemiBold"/>
                </a:rPr>
                <a:t>COUNTERMEASURE RECOMMENDATION ENGINE</a:t>
              </a:r>
              <a:endParaRPr b="0" sz="925">
                <a:solidFill>
                  <a:srgbClr val="00E5FF"/>
                </a:solidFill>
                <a:latin typeface="IBM Plex Mono SemiBold"/>
                <a:ea typeface="IBM Plex Mono SemiBold"/>
                <a:cs typeface="IBM Plex Mono SemiBold"/>
                <a:sym typeface="IBM Plex Mono SemiBold"/>
              </a:endParaRPr>
            </a:p>
          </p:txBody>
        </p:sp>
        <p:grpSp>
          <p:nvGrpSpPr>
            <p:cNvPr id="399" name="Google Shape;399;p20"/>
            <p:cNvGrpSpPr/>
            <p:nvPr/>
          </p:nvGrpSpPr>
          <p:grpSpPr>
            <a:xfrm>
              <a:off x="2952750" y="104775"/>
              <a:ext cx="904800" cy="171600"/>
              <a:chOff x="0" y="0"/>
              <a:chExt cx="904800" cy="171600"/>
            </a:xfrm>
          </p:grpSpPr>
          <p:sp>
            <p:nvSpPr>
              <p:cNvPr id="400" name="Google Shape;400;p20"/>
              <p:cNvSpPr/>
              <p:nvPr/>
            </p:nvSpPr>
            <p:spPr>
              <a:xfrm>
                <a:off x="0" y="0"/>
                <a:ext cx="904800" cy="171600"/>
              </a:xfrm>
              <a:prstGeom prst="roundRect">
                <a:avLst>
                  <a:gd fmla="val 11111" name="adj"/>
                </a:avLst>
              </a:prstGeom>
              <a:solidFill>
                <a:srgbClr val="1E293B"/>
              </a:solidFill>
              <a:ln cap="flat" cmpd="sng" w="4775">
                <a:solidFill>
                  <a:srgbClr val="FFB3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1" name="Google Shape;401;p20"/>
              <p:cNvSpPr txBox="1"/>
              <p:nvPr/>
            </p:nvSpPr>
            <p:spPr>
              <a:xfrm>
                <a:off x="0" y="0"/>
                <a:ext cx="904800" cy="171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600">
                    <a:solidFill>
                      <a:srgbClr val="FFB347"/>
                    </a:solidFill>
                    <a:latin typeface="IBM Plex Mono SemiBold"/>
                    <a:ea typeface="IBM Plex Mono SemiBold"/>
                    <a:cs typeface="IBM Plex Mono SemiBold"/>
                    <a:sym typeface="IBM Plex Mono SemiBold"/>
                  </a:rPr>
                  <a:t>[ FUTURE TARGETS ]</a:t>
                </a:r>
                <a:endParaRPr b="0" sz="600">
                  <a:solidFill>
                    <a:srgbClr val="FFB347"/>
                  </a:solidFill>
                  <a:latin typeface="IBM Plex Mono SemiBold"/>
                  <a:ea typeface="IBM Plex Mono SemiBold"/>
                  <a:cs typeface="IBM Plex Mono SemiBold"/>
                  <a:sym typeface="IBM Plex Mono SemiBold"/>
                </a:endParaRPr>
              </a:p>
            </p:txBody>
          </p:sp>
        </p:grpSp>
        <p:grpSp>
          <p:nvGrpSpPr>
            <p:cNvPr id="402" name="Google Shape;402;p20"/>
            <p:cNvGrpSpPr/>
            <p:nvPr/>
          </p:nvGrpSpPr>
          <p:grpSpPr>
            <a:xfrm>
              <a:off x="142875" y="523875"/>
              <a:ext cx="3714900" cy="857400"/>
              <a:chOff x="0" y="0"/>
              <a:chExt cx="3714900" cy="857400"/>
            </a:xfrm>
          </p:grpSpPr>
          <p:sp>
            <p:nvSpPr>
              <p:cNvPr id="403" name="Google Shape;403;p20"/>
              <p:cNvSpPr/>
              <p:nvPr/>
            </p:nvSpPr>
            <p:spPr>
              <a:xfrm>
                <a:off x="0" y="0"/>
                <a:ext cx="3714900" cy="857400"/>
              </a:xfrm>
              <a:prstGeom prst="rect">
                <a:avLst/>
              </a:prstGeom>
              <a:solidFill>
                <a:srgbClr val="090D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4" name="Google Shape;404;p20"/>
              <p:cNvSpPr/>
              <p:nvPr/>
            </p:nvSpPr>
            <p:spPr>
              <a:xfrm>
                <a:off x="0" y="0"/>
                <a:ext cx="19200" cy="8574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20"/>
              <p:cNvSpPr txBox="1"/>
              <p:nvPr/>
            </p:nvSpPr>
            <p:spPr>
              <a:xfrm>
                <a:off x="142875" y="114300"/>
                <a:ext cx="3429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E2E8F0"/>
                    </a:solidFill>
                    <a:latin typeface="IBM Plex Mono SemiBold"/>
                    <a:ea typeface="IBM Plex Mono SemiBold"/>
                    <a:cs typeface="IBM Plex Mono SemiBold"/>
                    <a:sym typeface="IBM Plex Mono SemiBold"/>
                  </a:rPr>
                  <a:t>[01] TECHNOLOGICAL DEGRADATION</a:t>
                </a:r>
                <a:endParaRPr b="0" sz="850">
                  <a:solidFill>
                    <a:srgbClr val="E2E8F0"/>
                  </a:solidFill>
                  <a:latin typeface="IBM Plex Mono SemiBold"/>
                  <a:ea typeface="IBM Plex Mono SemiBold"/>
                  <a:cs typeface="IBM Plex Mono SemiBold"/>
                  <a:sym typeface="IBM Plex Mono SemiBold"/>
                </a:endParaRPr>
              </a:p>
              <a:p>
                <a:pPr indent="0" lvl="0" marL="0" rtl="0" algn="l">
                  <a:spcBef>
                    <a:spcPts val="300"/>
                  </a:spcBef>
                  <a:spcAft>
                    <a:spcPts val="0"/>
                  </a:spcAft>
                  <a:buNone/>
                </a:pPr>
                <a:r>
                  <a:rPr b="0" lang="en" sz="850">
                    <a:solidFill>
                      <a:srgbClr val="94A3B8"/>
                    </a:solidFill>
                    <a:latin typeface="IBM Plex Sans"/>
                    <a:ea typeface="IBM Plex Sans"/>
                    <a:cs typeface="IBM Plex Sans"/>
                    <a:sym typeface="IBM Plex Sans"/>
                  </a:rPr>
                  <a:t>Recommends precision exports control protocols targeting advanced carbon-carbon composites and bespoke sintering furnaces identified in patent data.</a:t>
                </a:r>
                <a:endParaRPr b="0" sz="850">
                  <a:solidFill>
                    <a:srgbClr val="94A3B8"/>
                  </a:solidFill>
                  <a:latin typeface="IBM Plex Sans"/>
                  <a:ea typeface="IBM Plex Sans"/>
                  <a:cs typeface="IBM Plex Sans"/>
                  <a:sym typeface="IBM Plex Sans"/>
                </a:endParaRPr>
              </a:p>
            </p:txBody>
          </p:sp>
        </p:grpSp>
        <p:grpSp>
          <p:nvGrpSpPr>
            <p:cNvPr id="406" name="Google Shape;406;p20"/>
            <p:cNvGrpSpPr/>
            <p:nvPr/>
          </p:nvGrpSpPr>
          <p:grpSpPr>
            <a:xfrm>
              <a:off x="142875" y="1524000"/>
              <a:ext cx="3714900" cy="857400"/>
              <a:chOff x="0" y="0"/>
              <a:chExt cx="3714900" cy="857400"/>
            </a:xfrm>
          </p:grpSpPr>
          <p:sp>
            <p:nvSpPr>
              <p:cNvPr id="407" name="Google Shape;407;p20"/>
              <p:cNvSpPr/>
              <p:nvPr/>
            </p:nvSpPr>
            <p:spPr>
              <a:xfrm>
                <a:off x="0" y="0"/>
                <a:ext cx="3714900" cy="857400"/>
              </a:xfrm>
              <a:prstGeom prst="rect">
                <a:avLst/>
              </a:prstGeom>
              <a:solidFill>
                <a:srgbClr val="090D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8" name="Google Shape;408;p20"/>
              <p:cNvSpPr/>
              <p:nvPr/>
            </p:nvSpPr>
            <p:spPr>
              <a:xfrm>
                <a:off x="0" y="0"/>
                <a:ext cx="19200" cy="857400"/>
              </a:xfrm>
              <a:prstGeom prst="rect">
                <a:avLst/>
              </a:prstGeom>
              <a:solidFill>
                <a:srgbClr val="00E5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9" name="Google Shape;409;p20"/>
              <p:cNvSpPr txBox="1"/>
              <p:nvPr/>
            </p:nvSpPr>
            <p:spPr>
              <a:xfrm>
                <a:off x="142875" y="114300"/>
                <a:ext cx="3429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E2E8F0"/>
                    </a:solidFill>
                    <a:latin typeface="IBM Plex Mono SemiBold"/>
                    <a:ea typeface="IBM Plex Mono SemiBold"/>
                    <a:cs typeface="IBM Plex Mono SemiBold"/>
                    <a:sym typeface="IBM Plex Mono SemiBold"/>
                  </a:rPr>
                  <a:t>[02] ECONOMIC INTERVENTION</a:t>
                </a:r>
                <a:endParaRPr b="0" sz="850">
                  <a:solidFill>
                    <a:srgbClr val="E2E8F0"/>
                  </a:solidFill>
                  <a:latin typeface="IBM Plex Mono SemiBold"/>
                  <a:ea typeface="IBM Plex Mono SemiBold"/>
                  <a:cs typeface="IBM Plex Mono SemiBold"/>
                  <a:sym typeface="IBM Plex Mono SemiBold"/>
                </a:endParaRPr>
              </a:p>
              <a:p>
                <a:pPr indent="0" lvl="0" marL="0" rtl="0" algn="l">
                  <a:spcBef>
                    <a:spcPts val="300"/>
                  </a:spcBef>
                  <a:spcAft>
                    <a:spcPts val="0"/>
                  </a:spcAft>
                  <a:buNone/>
                </a:pPr>
                <a:r>
                  <a:rPr b="0" lang="en" sz="850">
                    <a:solidFill>
                      <a:srgbClr val="94A3B8"/>
                    </a:solidFill>
                    <a:latin typeface="IBM Plex Sans"/>
                    <a:ea typeface="IBM Plex Sans"/>
                    <a:cs typeface="IBM Plex Sans"/>
                    <a:sym typeface="IBM Plex Sans"/>
                  </a:rPr>
                  <a:t>Tracks funding paths of front companies using localized co-citation anomalies to recommend structured banking blockades and financial penalties.</a:t>
                </a:r>
                <a:endParaRPr b="0" sz="850">
                  <a:solidFill>
                    <a:srgbClr val="94A3B8"/>
                  </a:solidFill>
                  <a:latin typeface="IBM Plex Sans"/>
                  <a:ea typeface="IBM Plex Sans"/>
                  <a:cs typeface="IBM Plex Sans"/>
                  <a:sym typeface="IBM Plex Sans"/>
                </a:endParaRPr>
              </a:p>
            </p:txBody>
          </p:sp>
        </p:grpSp>
        <p:grpSp>
          <p:nvGrpSpPr>
            <p:cNvPr id="410" name="Google Shape;410;p20"/>
            <p:cNvGrpSpPr/>
            <p:nvPr/>
          </p:nvGrpSpPr>
          <p:grpSpPr>
            <a:xfrm>
              <a:off x="142875" y="2524125"/>
              <a:ext cx="3714900" cy="857400"/>
              <a:chOff x="0" y="0"/>
              <a:chExt cx="3714900" cy="857400"/>
            </a:xfrm>
          </p:grpSpPr>
          <p:sp>
            <p:nvSpPr>
              <p:cNvPr id="411" name="Google Shape;411;p20"/>
              <p:cNvSpPr/>
              <p:nvPr/>
            </p:nvSpPr>
            <p:spPr>
              <a:xfrm>
                <a:off x="0" y="0"/>
                <a:ext cx="3714900" cy="857400"/>
              </a:xfrm>
              <a:prstGeom prst="rect">
                <a:avLst/>
              </a:prstGeom>
              <a:solidFill>
                <a:srgbClr val="090D14"/>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2" name="Google Shape;412;p20"/>
              <p:cNvSpPr/>
              <p:nvPr/>
            </p:nvSpPr>
            <p:spPr>
              <a:xfrm>
                <a:off x="0" y="0"/>
                <a:ext cx="19200" cy="857400"/>
              </a:xfrm>
              <a:prstGeom prst="rect">
                <a:avLst/>
              </a:prstGeom>
              <a:solidFill>
                <a:srgbClr val="000000">
                  <a:alpha val="0"/>
                </a:srgbClr>
              </a:solidFill>
              <a:ln cap="flat" cmpd="sng" w="19050">
                <a:solidFill>
                  <a:srgbClr val="FFB347"/>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3" name="Google Shape;413;p20"/>
              <p:cNvSpPr txBox="1"/>
              <p:nvPr/>
            </p:nvSpPr>
            <p:spPr>
              <a:xfrm>
                <a:off x="142875" y="114300"/>
                <a:ext cx="34290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850">
                    <a:solidFill>
                      <a:srgbClr val="E2E8F0"/>
                    </a:solidFill>
                    <a:latin typeface="IBM Plex Mono SemiBold"/>
                    <a:ea typeface="IBM Plex Mono SemiBold"/>
                    <a:cs typeface="IBM Plex Mono SemiBold"/>
                    <a:sym typeface="IBM Plex Mono SemiBold"/>
                  </a:rPr>
                  <a:t>[03] OPEN DATA DISSEMINATION</a:t>
                </a:r>
                <a:endParaRPr b="0" sz="850">
                  <a:solidFill>
                    <a:srgbClr val="E2E8F0"/>
                  </a:solidFill>
                  <a:latin typeface="IBM Plex Mono SemiBold"/>
                  <a:ea typeface="IBM Plex Mono SemiBold"/>
                  <a:cs typeface="IBM Plex Mono SemiBold"/>
                  <a:sym typeface="IBM Plex Mono SemiBold"/>
                </a:endParaRPr>
              </a:p>
              <a:p>
                <a:pPr indent="0" lvl="0" marL="0" rtl="0" algn="l">
                  <a:spcBef>
                    <a:spcPts val="300"/>
                  </a:spcBef>
                  <a:spcAft>
                    <a:spcPts val="0"/>
                  </a:spcAft>
                  <a:buNone/>
                </a:pPr>
                <a:r>
                  <a:rPr b="0" lang="en" sz="850">
                    <a:solidFill>
                      <a:srgbClr val="94A3B8"/>
                    </a:solidFill>
                    <a:latin typeface="IBM Plex Sans"/>
                    <a:ea typeface="IBM Plex Sans"/>
                    <a:cs typeface="IBM Plex Sans"/>
                    <a:sym typeface="IBM Plex Sans"/>
                  </a:rPr>
                  <a:t>Provides structured, classified graph exports to unified combatant commands, enabling external agencies to model independent kinetic/cyber options.</a:t>
                </a:r>
                <a:endParaRPr b="0" sz="850">
                  <a:solidFill>
                    <a:srgbClr val="94A3B8"/>
                  </a:solidFill>
                  <a:latin typeface="IBM Plex Sans"/>
                  <a:ea typeface="IBM Plex Sans"/>
                  <a:cs typeface="IBM Plex Sans"/>
                  <a:sym typeface="IBM Plex Sans"/>
                </a:endParaRPr>
              </a:p>
            </p:txBody>
          </p:sp>
        </p:grpSp>
      </p:grpSp>
      <p:sp>
        <p:nvSpPr>
          <p:cNvPr id="414" name="Google Shape;414;p20"/>
          <p:cNvSpPr/>
          <p:nvPr/>
        </p:nvSpPr>
        <p:spPr>
          <a:xfrm>
            <a:off x="381000" y="4667250"/>
            <a:ext cx="8382000" cy="190500"/>
          </a:xfrm>
          <a:prstGeom prst="rect">
            <a:avLst/>
          </a:prstGeom>
          <a:solidFill>
            <a:srgbClr val="121A2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5" name="Google Shape;415;p20"/>
          <p:cNvSpPr txBox="1"/>
          <p:nvPr/>
        </p:nvSpPr>
        <p:spPr>
          <a:xfrm>
            <a:off x="476250" y="4686300"/>
            <a:ext cx="8191500" cy="14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750">
                <a:solidFill>
                  <a:srgbClr val="475569"/>
                </a:solidFill>
                <a:latin typeface="IBM Plex Mono"/>
                <a:ea typeface="IBM Plex Mono"/>
                <a:cs typeface="IBM Plex Mono"/>
                <a:sym typeface="IBM Plex Mono"/>
              </a:rPr>
              <a:t>STATUS: SECURITY AUDITED // LINK: ENCRYPTED // MISSION STACK: DOWN-SELECT PROPOSAL READY // CLASSIFICATION: SECRET</a:t>
            </a:r>
            <a:endParaRPr b="0" sz="750">
              <a:solidFill>
                <a:srgbClr val="475569"/>
              </a:solidFill>
              <a:latin typeface="IBM Plex Mono"/>
              <a:ea typeface="IBM Plex Mono"/>
              <a:cs typeface="IBM Plex Mono"/>
              <a:sym typeface="IBM Plex Mon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